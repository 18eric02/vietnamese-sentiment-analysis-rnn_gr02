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Montserrat" panose="00000500000000000000" pitchFamily="2" charset="0"/>
      <p:regular r:id="rId26"/>
    </p:embeddedFont>
    <p:embeddedFont>
      <p:font typeface="Montserrat Bold" panose="00000800000000000000" charset="0"/>
      <p:regular r:id="rId27"/>
    </p:embeddedFont>
    <p:embeddedFont>
      <p:font typeface="Montserrat Bold Italics" panose="020B0604020202020204" charset="0"/>
      <p:regular r:id="rId28"/>
    </p:embeddedFont>
    <p:embeddedFont>
      <p:font typeface="Montserrat Medium" panose="00000600000000000000" pitchFamily="2" charset="0"/>
      <p:regular r:id="rId29"/>
    </p:embeddedFont>
    <p:embeddedFont>
      <p:font typeface="Montserrat Semi-Bold" panose="020B0604020202020204" charset="0"/>
      <p:regular r:id="rId30"/>
    </p:embeddedFont>
    <p:embeddedFont>
      <p:font typeface="Montserrat Semi-Bold Italics" panose="020B0604020202020204" charset="0"/>
      <p:regular r:id="rId31"/>
    </p:embeddedFont>
    <p:embeddedFont>
      <p:font typeface="Montserrat Ultra-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B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8" d="100"/>
          <a:sy n="68" d="100"/>
        </p:scale>
        <p:origin x="-120" y="-7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8.svg"/><Relationship Id="rId7" Type="http://schemas.openxmlformats.org/officeDocument/2006/relationships/image" Target="../media/image2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8.sv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286000"/>
            <a:chOff x="0" y="0"/>
            <a:chExt cx="24384000" cy="3048000"/>
          </a:xfrm>
        </p:grpSpPr>
        <p:sp>
          <p:nvSpPr>
            <p:cNvPr id="3" name="Freeform 3" descr="A blue sign with white text  AI-generated content may be incorrect."/>
            <p:cNvSpPr/>
            <p:nvPr/>
          </p:nvSpPr>
          <p:spPr>
            <a:xfrm>
              <a:off x="0" y="0"/>
              <a:ext cx="24384000" cy="3048000"/>
            </a:xfrm>
            <a:custGeom>
              <a:avLst/>
              <a:gdLst/>
              <a:ahLst/>
              <a:cxnLst/>
              <a:rect l="l" t="t" r="r" b="b"/>
              <a:pathLst>
                <a:path w="24384000" h="3048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753199" y="3049171"/>
            <a:ext cx="1078160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EC232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BÁO CÁO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583" y="4125496"/>
            <a:ext cx="16126834" cy="180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6000" b="1" dirty="0">
                <a:solidFill>
                  <a:srgbClr val="0471B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TÌM HIỂU VỀ MẠNG NƠ-RON HỒI QUY</a:t>
            </a:r>
          </a:p>
          <a:p>
            <a:pPr algn="ctr">
              <a:lnSpc>
                <a:spcPts val="7140"/>
              </a:lnSpc>
            </a:pPr>
            <a:r>
              <a:rPr lang="en-US" sz="6000" b="1">
                <a:solidFill>
                  <a:srgbClr val="0471B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(RECURRENT NEURAL NETWORK)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74032" y="7525893"/>
            <a:ext cx="5732069" cy="158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Nguyễn Nam Triều Tiên</a:t>
            </a:r>
          </a:p>
          <a:p>
            <a:pPr algn="l">
              <a:lnSpc>
                <a:spcPts val="4224"/>
              </a:lnSpc>
            </a:pPr>
            <a:r>
              <a:rPr lang="en-US" sz="32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Trịnh Nguyễn Anh Hào</a:t>
            </a:r>
          </a:p>
          <a:p>
            <a:pPr algn="l">
              <a:lnSpc>
                <a:spcPts val="4224"/>
              </a:lnSpc>
            </a:pPr>
            <a:r>
              <a:rPr lang="en-US" sz="32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Lê Huy Huân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32425" y="7563993"/>
            <a:ext cx="2268098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2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Trình bày: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74032" y="6887936"/>
            <a:ext cx="5732069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2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PGS. TS. Hoàng Văn Dũng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32425" y="6887936"/>
            <a:ext cx="2432088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8"/>
              </a:lnSpc>
            </a:pPr>
            <a:r>
              <a:rPr lang="en-US" sz="32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Giảng viên: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74032" y="6252942"/>
            <a:ext cx="5396697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2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32425" y="6252942"/>
            <a:ext cx="2432088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8"/>
              </a:lnSpc>
            </a:pPr>
            <a:r>
              <a:rPr lang="en-US" sz="32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Học phần: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 DUNG CHÍNH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9618" y="9580759"/>
            <a:ext cx="14674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7072" y="2606030"/>
            <a:ext cx="14742014" cy="609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 Kiểu dữ liệu tuần tự (Sequential data)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 Ý tưởng của RNN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3. Kiến trúc và nguyên lý hoạt động của RNN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4. Huấn luyện mô hình RNN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5. Ưu nhược điểm của RNN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6. Các biến thể của RNN</a:t>
            </a:r>
          </a:p>
          <a:p>
            <a:pPr algn="l">
              <a:lnSpc>
                <a:spcPts val="6912"/>
              </a:lnSpc>
            </a:pPr>
            <a:r>
              <a:rPr lang="en-US" sz="48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7. Ứng dụng của RNN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069427" y="3160047"/>
            <a:ext cx="2149145" cy="2250414"/>
          </a:xfrm>
          <a:custGeom>
            <a:avLst/>
            <a:gdLst/>
            <a:ahLst/>
            <a:cxnLst/>
            <a:rect l="l" t="t" r="r" b="b"/>
            <a:pathLst>
              <a:path w="2149145" h="2250414">
                <a:moveTo>
                  <a:pt x="0" y="0"/>
                </a:moveTo>
                <a:lnTo>
                  <a:pt x="2149146" y="0"/>
                </a:lnTo>
                <a:lnTo>
                  <a:pt x="2149146" y="2250414"/>
                </a:lnTo>
                <a:lnTo>
                  <a:pt x="0" y="2250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KIỂU DỮ LIỆU TUẦN TỰ (SEQUENTIAL DATA)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9306" y="6820780"/>
            <a:ext cx="15175330" cy="83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9"/>
              </a:lnSpc>
            </a:pPr>
            <a:r>
              <a:rPr lang="en-US" sz="552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HÔM NAY TRỜI MƯA, TÔI MANG THEO ...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19306" y="5737444"/>
            <a:ext cx="15175330" cy="83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</a:pPr>
            <a:r>
              <a:rPr lang="en-US" sz="5520" b="1" i="1">
                <a:solidFill>
                  <a:srgbClr val="EC212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Điền vào chỗ trống sau: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1550" y="5678526"/>
            <a:ext cx="6958586" cy="3297552"/>
            <a:chOff x="0" y="0"/>
            <a:chExt cx="1832714" cy="8684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2714" cy="868491"/>
            </a:xfrm>
            <a:custGeom>
              <a:avLst/>
              <a:gdLst/>
              <a:ahLst/>
              <a:cxnLst/>
              <a:rect l="l" t="t" r="r" b="b"/>
              <a:pathLst>
                <a:path w="1832714" h="868491">
                  <a:moveTo>
                    <a:pt x="54516" y="0"/>
                  </a:moveTo>
                  <a:lnTo>
                    <a:pt x="1778198" y="0"/>
                  </a:lnTo>
                  <a:cubicBezTo>
                    <a:pt x="1808306" y="0"/>
                    <a:pt x="1832714" y="24408"/>
                    <a:pt x="1832714" y="54516"/>
                  </a:cubicBezTo>
                  <a:lnTo>
                    <a:pt x="1832714" y="813975"/>
                  </a:lnTo>
                  <a:cubicBezTo>
                    <a:pt x="1832714" y="828434"/>
                    <a:pt x="1826970" y="842300"/>
                    <a:pt x="1816747" y="852524"/>
                  </a:cubicBezTo>
                  <a:cubicBezTo>
                    <a:pt x="1806523" y="862748"/>
                    <a:pt x="1792657" y="868491"/>
                    <a:pt x="1778198" y="868491"/>
                  </a:cubicBezTo>
                  <a:lnTo>
                    <a:pt x="54516" y="868491"/>
                  </a:lnTo>
                  <a:cubicBezTo>
                    <a:pt x="24408" y="868491"/>
                    <a:pt x="0" y="844084"/>
                    <a:pt x="0" y="813975"/>
                  </a:cubicBezTo>
                  <a:lnTo>
                    <a:pt x="0" y="54516"/>
                  </a:lnTo>
                  <a:cubicBezTo>
                    <a:pt x="0" y="24408"/>
                    <a:pt x="24408" y="0"/>
                    <a:pt x="54516" y="0"/>
                  </a:cubicBezTo>
                  <a:close/>
                </a:path>
              </a:pathLst>
            </a:custGeom>
            <a:solidFill>
              <a:srgbClr val="FEFDFE"/>
            </a:solidFill>
            <a:ln w="190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832714" cy="8970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181606" y="5143500"/>
            <a:ext cx="1813030" cy="1631727"/>
          </a:xfrm>
          <a:custGeom>
            <a:avLst/>
            <a:gdLst/>
            <a:ahLst/>
            <a:cxnLst/>
            <a:rect l="l" t="t" r="r" b="b"/>
            <a:pathLst>
              <a:path w="1813030" h="1631727">
                <a:moveTo>
                  <a:pt x="0" y="0"/>
                </a:moveTo>
                <a:lnTo>
                  <a:pt x="1813030" y="0"/>
                </a:lnTo>
                <a:lnTo>
                  <a:pt x="1813030" y="1631727"/>
                </a:lnTo>
                <a:lnTo>
                  <a:pt x="0" y="163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48587">
            <a:off x="15444646" y="7045376"/>
            <a:ext cx="1369443" cy="1902004"/>
          </a:xfrm>
          <a:custGeom>
            <a:avLst/>
            <a:gdLst/>
            <a:ahLst/>
            <a:cxnLst/>
            <a:rect l="l" t="t" r="r" b="b"/>
            <a:pathLst>
              <a:path w="1369443" h="1902004">
                <a:moveTo>
                  <a:pt x="0" y="0"/>
                </a:moveTo>
                <a:lnTo>
                  <a:pt x="1369443" y="0"/>
                </a:lnTo>
                <a:lnTo>
                  <a:pt x="1369443" y="1902004"/>
                </a:lnTo>
                <a:lnTo>
                  <a:pt x="0" y="1902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84263" y="6719626"/>
            <a:ext cx="2092582" cy="1558974"/>
          </a:xfrm>
          <a:custGeom>
            <a:avLst/>
            <a:gdLst/>
            <a:ahLst/>
            <a:cxnLst/>
            <a:rect l="l" t="t" r="r" b="b"/>
            <a:pathLst>
              <a:path w="2092582" h="1558974">
                <a:moveTo>
                  <a:pt x="0" y="0"/>
                </a:moveTo>
                <a:lnTo>
                  <a:pt x="2092583" y="0"/>
                </a:lnTo>
                <a:lnTo>
                  <a:pt x="2092583" y="1558974"/>
                </a:lnTo>
                <a:lnTo>
                  <a:pt x="0" y="155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KIỂU DỮ LIỆU TUẦN TỰ (SEQUENTIAL DATA)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9306" y="3838827"/>
            <a:ext cx="15175330" cy="839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9"/>
              </a:lnSpc>
            </a:pPr>
            <a:r>
              <a:rPr lang="en-US" sz="552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HÔM NAY TRỜI MƯA, TÔI MANG THEO ...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9306" y="2870606"/>
            <a:ext cx="15175330" cy="83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9"/>
              </a:lnSpc>
            </a:pPr>
            <a:r>
              <a:rPr lang="en-US" sz="552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Điền vào chỗ trống sau: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62087" y="5604899"/>
            <a:ext cx="733565" cy="71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7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91430" y="7695253"/>
            <a:ext cx="2674879" cy="71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7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ÁO MƯA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52617" y="5384891"/>
            <a:ext cx="4546734" cy="71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7"/>
              </a:lnSpc>
            </a:pPr>
            <a:r>
              <a:rPr lang="en-US" sz="472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Ngữ cảnh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24202" y="6791266"/>
            <a:ext cx="3959324" cy="141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7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“Hôm nay </a:t>
            </a:r>
            <a:r>
              <a:rPr lang="en-US" sz="4719" b="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trời mưa</a:t>
            </a:r>
            <a:r>
              <a:rPr lang="en-US" sz="47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73011" y="6967276"/>
            <a:ext cx="3959324" cy="71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7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Dự đoán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160556" y="6776776"/>
            <a:ext cx="1755313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64949" y="4298206"/>
            <a:ext cx="4696998" cy="845294"/>
            <a:chOff x="0" y="0"/>
            <a:chExt cx="1237070" cy="2226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7070" cy="222629"/>
            </a:xfrm>
            <a:custGeom>
              <a:avLst/>
              <a:gdLst/>
              <a:ahLst/>
              <a:cxnLst/>
              <a:rect l="l" t="t" r="r" b="b"/>
              <a:pathLst>
                <a:path w="1237070" h="222629">
                  <a:moveTo>
                    <a:pt x="0" y="0"/>
                  </a:moveTo>
                  <a:lnTo>
                    <a:pt x="1237070" y="0"/>
                  </a:lnTo>
                  <a:lnTo>
                    <a:pt x="1237070" y="222629"/>
                  </a:lnTo>
                  <a:lnTo>
                    <a:pt x="0" y="222629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37070" cy="260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95570" y="4418792"/>
            <a:ext cx="4008130" cy="586189"/>
          </a:xfrm>
          <a:custGeom>
            <a:avLst/>
            <a:gdLst/>
            <a:ahLst/>
            <a:cxnLst/>
            <a:rect l="l" t="t" r="r" b="b"/>
            <a:pathLst>
              <a:path w="4008130" h="586189">
                <a:moveTo>
                  <a:pt x="0" y="0"/>
                </a:moveTo>
                <a:lnTo>
                  <a:pt x="4008130" y="0"/>
                </a:lnTo>
                <a:lnTo>
                  <a:pt x="4008130" y="586189"/>
                </a:lnTo>
                <a:lnTo>
                  <a:pt x="0" y="586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94755" y="3017624"/>
            <a:ext cx="3785373" cy="3300989"/>
          </a:xfrm>
          <a:custGeom>
            <a:avLst/>
            <a:gdLst/>
            <a:ahLst/>
            <a:cxnLst/>
            <a:rect l="l" t="t" r="r" b="b"/>
            <a:pathLst>
              <a:path w="3785373" h="3300989">
                <a:moveTo>
                  <a:pt x="0" y="0"/>
                </a:moveTo>
                <a:lnTo>
                  <a:pt x="3785373" y="0"/>
                </a:lnTo>
                <a:lnTo>
                  <a:pt x="3785373" y="3300990"/>
                </a:lnTo>
                <a:lnTo>
                  <a:pt x="0" y="3300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838489" y="5298770"/>
            <a:ext cx="3321777" cy="1019844"/>
          </a:xfrm>
          <a:custGeom>
            <a:avLst/>
            <a:gdLst/>
            <a:ahLst/>
            <a:cxnLst/>
            <a:rect l="l" t="t" r="r" b="b"/>
            <a:pathLst>
              <a:path w="3321777" h="1019844">
                <a:moveTo>
                  <a:pt x="0" y="0"/>
                </a:moveTo>
                <a:lnTo>
                  <a:pt x="3321776" y="0"/>
                </a:lnTo>
                <a:lnTo>
                  <a:pt x="3321776" y="1019844"/>
                </a:lnTo>
                <a:lnTo>
                  <a:pt x="0" y="1019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411768" y="6643147"/>
            <a:ext cx="6175700" cy="2969145"/>
          </a:xfrm>
          <a:custGeom>
            <a:avLst/>
            <a:gdLst/>
            <a:ahLst/>
            <a:cxnLst/>
            <a:rect l="l" t="t" r="r" b="b"/>
            <a:pathLst>
              <a:path w="6175700" h="2969145">
                <a:moveTo>
                  <a:pt x="0" y="0"/>
                </a:moveTo>
                <a:lnTo>
                  <a:pt x="6175700" y="0"/>
                </a:lnTo>
                <a:lnTo>
                  <a:pt x="6175700" y="2969145"/>
                </a:lnTo>
                <a:lnTo>
                  <a:pt x="0" y="2969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2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388570" y="3017624"/>
            <a:ext cx="4111048" cy="1902930"/>
          </a:xfrm>
          <a:custGeom>
            <a:avLst/>
            <a:gdLst/>
            <a:ahLst/>
            <a:cxnLst/>
            <a:rect l="l" t="t" r="r" b="b"/>
            <a:pathLst>
              <a:path w="4111048" h="1902930">
                <a:moveTo>
                  <a:pt x="0" y="0"/>
                </a:moveTo>
                <a:lnTo>
                  <a:pt x="4111048" y="0"/>
                </a:lnTo>
                <a:lnTo>
                  <a:pt x="4111048" y="1902931"/>
                </a:lnTo>
                <a:lnTo>
                  <a:pt x="0" y="19029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KIỂU DỮ LIỆU TUẦN TỰ (SEQUENTIAL DATA)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695" y="2507841"/>
            <a:ext cx="7713880" cy="156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Dữ liệu tuần tự (sequence data):</a:t>
            </a:r>
            <a:r>
              <a:rPr lang="en-US" sz="3200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32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là kiểu dữ liệu bao gồm nhiều phần tử được sắp xếp theo thứ tự: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4614" y="5323732"/>
            <a:ext cx="7751962" cy="156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Trong đó vị trí và mối liên hệ giữa các phần tử ảnh hưởng đến ý nghĩa của toàn bộ dãy.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4614" y="7201681"/>
            <a:ext cx="7751962" cy="208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Ví dụ: Văn bản (ngôn ngữ tự nhiên), chuỗi thời gian (giá cổ phiếu, thời tiết), tín hiệu âm thanh và chuỗi khung hình 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11048" y="3228715"/>
            <a:ext cx="13868625" cy="5858135"/>
          </a:xfrm>
          <a:custGeom>
            <a:avLst/>
            <a:gdLst/>
            <a:ahLst/>
            <a:cxnLst/>
            <a:rect l="l" t="t" r="r" b="b"/>
            <a:pathLst>
              <a:path w="13868625" h="5858135">
                <a:moveTo>
                  <a:pt x="0" y="0"/>
                </a:moveTo>
                <a:lnTo>
                  <a:pt x="13868625" y="0"/>
                </a:lnTo>
                <a:lnTo>
                  <a:pt x="13868625" y="5858135"/>
                </a:lnTo>
                <a:lnTo>
                  <a:pt x="0" y="5858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447" b="-1571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Ý TƯỞNG CỦA RNN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695" y="2507841"/>
            <a:ext cx="3907439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Tại sao cần RNN?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50135" y="2479266"/>
            <a:ext cx="1228201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i="1">
                <a:solidFill>
                  <a:srgbClr val="1800A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Hạn chế của mạng nơ-ron khi xử lý dữ liệu tuần tự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15093" y="4760503"/>
            <a:ext cx="1539943" cy="273459"/>
            <a:chOff x="0" y="0"/>
            <a:chExt cx="405582" cy="720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582" cy="72022"/>
            </a:xfrm>
            <a:custGeom>
              <a:avLst/>
              <a:gdLst/>
              <a:ahLst/>
              <a:cxnLst/>
              <a:rect l="l" t="t" r="r" b="b"/>
              <a:pathLst>
                <a:path w="405582" h="72022">
                  <a:moveTo>
                    <a:pt x="0" y="0"/>
                  </a:moveTo>
                  <a:lnTo>
                    <a:pt x="405582" y="0"/>
                  </a:lnTo>
                  <a:lnTo>
                    <a:pt x="405582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5582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03313" y="5352323"/>
            <a:ext cx="1051723" cy="273459"/>
            <a:chOff x="0" y="0"/>
            <a:chExt cx="276997" cy="720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6997" cy="72022"/>
            </a:xfrm>
            <a:custGeom>
              <a:avLst/>
              <a:gdLst/>
              <a:ahLst/>
              <a:cxnLst/>
              <a:rect l="l" t="t" r="r" b="b"/>
              <a:pathLst>
                <a:path w="276997" h="72022">
                  <a:moveTo>
                    <a:pt x="0" y="0"/>
                  </a:moveTo>
                  <a:lnTo>
                    <a:pt x="276997" y="0"/>
                  </a:lnTo>
                  <a:lnTo>
                    <a:pt x="276997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CDDB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6997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63677" y="5056413"/>
            <a:ext cx="1854929" cy="273459"/>
            <a:chOff x="0" y="0"/>
            <a:chExt cx="488541" cy="720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8541" cy="72022"/>
            </a:xfrm>
            <a:custGeom>
              <a:avLst/>
              <a:gdLst/>
              <a:ahLst/>
              <a:cxnLst/>
              <a:rect l="l" t="t" r="r" b="b"/>
              <a:pathLst>
                <a:path w="488541" h="72022">
                  <a:moveTo>
                    <a:pt x="0" y="0"/>
                  </a:moveTo>
                  <a:lnTo>
                    <a:pt x="488541" y="0"/>
                  </a:lnTo>
                  <a:lnTo>
                    <a:pt x="488541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8541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82875" y="5857894"/>
            <a:ext cx="4673026" cy="3504769"/>
          </a:xfrm>
          <a:custGeom>
            <a:avLst/>
            <a:gdLst/>
            <a:ahLst/>
            <a:cxnLst/>
            <a:rect l="l" t="t" r="r" b="b"/>
            <a:pathLst>
              <a:path w="4673026" h="3504769">
                <a:moveTo>
                  <a:pt x="0" y="0"/>
                </a:moveTo>
                <a:lnTo>
                  <a:pt x="4673026" y="0"/>
                </a:lnTo>
                <a:lnTo>
                  <a:pt x="4673026" y="3504770"/>
                </a:lnTo>
                <a:lnTo>
                  <a:pt x="0" y="3504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348769" y="6330785"/>
            <a:ext cx="5354437" cy="2225161"/>
          </a:xfrm>
          <a:custGeom>
            <a:avLst/>
            <a:gdLst/>
            <a:ahLst/>
            <a:cxnLst/>
            <a:rect l="l" t="t" r="r" b="b"/>
            <a:pathLst>
              <a:path w="5354437" h="2225161">
                <a:moveTo>
                  <a:pt x="0" y="0"/>
                </a:moveTo>
                <a:lnTo>
                  <a:pt x="5354437" y="0"/>
                </a:lnTo>
                <a:lnTo>
                  <a:pt x="5354437" y="2225161"/>
                </a:lnTo>
                <a:lnTo>
                  <a:pt x="0" y="222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1" r="-600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91031" y="5785560"/>
            <a:ext cx="5505937" cy="3097090"/>
          </a:xfrm>
          <a:custGeom>
            <a:avLst/>
            <a:gdLst/>
            <a:ahLst/>
            <a:cxnLst/>
            <a:rect l="l" t="t" r="r" b="b"/>
            <a:pathLst>
              <a:path w="5505937" h="3097090">
                <a:moveTo>
                  <a:pt x="0" y="0"/>
                </a:moveTo>
                <a:lnTo>
                  <a:pt x="5505938" y="0"/>
                </a:lnTo>
                <a:lnTo>
                  <a:pt x="5505938" y="3097089"/>
                </a:lnTo>
                <a:lnTo>
                  <a:pt x="0" y="3097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3825719" y="4442142"/>
            <a:ext cx="2098032" cy="318361"/>
            <a:chOff x="0" y="0"/>
            <a:chExt cx="552568" cy="83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2568" cy="83848"/>
            </a:xfrm>
            <a:custGeom>
              <a:avLst/>
              <a:gdLst/>
              <a:ahLst/>
              <a:cxnLst/>
              <a:rect l="l" t="t" r="r" b="b"/>
              <a:pathLst>
                <a:path w="552568" h="83848">
                  <a:moveTo>
                    <a:pt x="0" y="0"/>
                  </a:moveTo>
                  <a:lnTo>
                    <a:pt x="552568" y="0"/>
                  </a:lnTo>
                  <a:lnTo>
                    <a:pt x="552568" y="83848"/>
                  </a:lnTo>
                  <a:lnTo>
                    <a:pt x="0" y="83848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52568" cy="121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2875" y="5033963"/>
            <a:ext cx="1900239" cy="318361"/>
            <a:chOff x="0" y="0"/>
            <a:chExt cx="500475" cy="83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0475" cy="83848"/>
            </a:xfrm>
            <a:custGeom>
              <a:avLst/>
              <a:gdLst/>
              <a:ahLst/>
              <a:cxnLst/>
              <a:rect l="l" t="t" r="r" b="b"/>
              <a:pathLst>
                <a:path w="500475" h="83848">
                  <a:moveTo>
                    <a:pt x="0" y="0"/>
                  </a:moveTo>
                  <a:lnTo>
                    <a:pt x="500475" y="0"/>
                  </a:lnTo>
                  <a:lnTo>
                    <a:pt x="500475" y="83848"/>
                  </a:lnTo>
                  <a:lnTo>
                    <a:pt x="0" y="83848"/>
                  </a:lnTo>
                  <a:close/>
                </a:path>
              </a:pathLst>
            </a:custGeom>
            <a:solidFill>
              <a:srgbClr val="FCDDB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00475" cy="121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34338" y="5056413"/>
            <a:ext cx="1854929" cy="273459"/>
            <a:chOff x="0" y="0"/>
            <a:chExt cx="488541" cy="720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8541" cy="72022"/>
            </a:xfrm>
            <a:custGeom>
              <a:avLst/>
              <a:gdLst/>
              <a:ahLst/>
              <a:cxnLst/>
              <a:rect l="l" t="t" r="r" b="b"/>
              <a:pathLst>
                <a:path w="488541" h="72022">
                  <a:moveTo>
                    <a:pt x="0" y="0"/>
                  </a:moveTo>
                  <a:lnTo>
                    <a:pt x="488541" y="0"/>
                  </a:lnTo>
                  <a:lnTo>
                    <a:pt x="488541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88541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Ý TƯỞNG CỦA RNN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2695" y="2507841"/>
            <a:ext cx="3907439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Tại sao cần RNN?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50135" y="2479266"/>
            <a:ext cx="1228201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i="1">
                <a:solidFill>
                  <a:srgbClr val="1800A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Thách thức của mạng nơ-ron khi xử lý dữ liệu tuần tự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2875" y="3519015"/>
            <a:ext cx="504087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Xử lý độ dài thay đổi    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91031" y="3453670"/>
            <a:ext cx="5505937" cy="74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Nắm bắt các mối quan hệ phụ thuộc theo thời gian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07428" y="3391059"/>
            <a:ext cx="4865563" cy="83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Chia sẻ tham số giữa các </a:t>
            </a:r>
          </a:p>
          <a:p>
            <a:pPr algn="ctr">
              <a:lnSpc>
                <a:spcPts val="3303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bước thời gian         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4222" y="4451667"/>
            <a:ext cx="4989530" cy="117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79"/>
              </a:lnSpc>
              <a:spcBef>
                <a:spcPct val="0"/>
              </a:spcBef>
            </a:pPr>
            <a:r>
              <a:rPr lang="en-US" sz="1999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Dữ liệu đầu vào của dữ liệu tuần tự có kích thước khác nhau, trong khi mạng nơ-ron thường yêu cầu đầu vào với kích thước cố định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572125" y="5352323"/>
            <a:ext cx="1081287" cy="273459"/>
            <a:chOff x="0" y="0"/>
            <a:chExt cx="284784" cy="7202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84784" cy="72022"/>
            </a:xfrm>
            <a:custGeom>
              <a:avLst/>
              <a:gdLst/>
              <a:ahLst/>
              <a:cxnLst/>
              <a:rect l="l" t="t" r="r" b="b"/>
              <a:pathLst>
                <a:path w="284784" h="72022">
                  <a:moveTo>
                    <a:pt x="0" y="0"/>
                  </a:moveTo>
                  <a:lnTo>
                    <a:pt x="284784" y="0"/>
                  </a:lnTo>
                  <a:lnTo>
                    <a:pt x="284784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84784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447954" y="4760503"/>
            <a:ext cx="1854929" cy="273459"/>
            <a:chOff x="0" y="0"/>
            <a:chExt cx="488541" cy="7202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88541" cy="72022"/>
            </a:xfrm>
            <a:custGeom>
              <a:avLst/>
              <a:gdLst/>
              <a:ahLst/>
              <a:cxnLst/>
              <a:rect l="l" t="t" r="r" b="b"/>
              <a:pathLst>
                <a:path w="488541" h="72022">
                  <a:moveTo>
                    <a:pt x="0" y="0"/>
                  </a:moveTo>
                  <a:lnTo>
                    <a:pt x="488541" y="0"/>
                  </a:lnTo>
                  <a:lnTo>
                    <a:pt x="488541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88541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631916" y="4451667"/>
            <a:ext cx="5037477" cy="117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Mạng nơ-ron xử lý từng đầu vào một cách độc lập, khó nắm bắt ngữ cảnh và mối quan hệ giữa các phần tử cách xa nhau trong chuỗi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4112745" y="5352323"/>
            <a:ext cx="3433618" cy="273459"/>
            <a:chOff x="0" y="0"/>
            <a:chExt cx="904327" cy="7202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04327" cy="72022"/>
            </a:xfrm>
            <a:custGeom>
              <a:avLst/>
              <a:gdLst/>
              <a:ahLst/>
              <a:cxnLst/>
              <a:rect l="l" t="t" r="r" b="b"/>
              <a:pathLst>
                <a:path w="904327" h="72022">
                  <a:moveTo>
                    <a:pt x="0" y="0"/>
                  </a:moveTo>
                  <a:lnTo>
                    <a:pt x="904327" y="0"/>
                  </a:lnTo>
                  <a:lnTo>
                    <a:pt x="904327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04327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63775" y="5648830"/>
            <a:ext cx="3365779" cy="273459"/>
            <a:chOff x="0" y="0"/>
            <a:chExt cx="886460" cy="7202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86460" cy="72022"/>
            </a:xfrm>
            <a:custGeom>
              <a:avLst/>
              <a:gdLst/>
              <a:ahLst/>
              <a:cxnLst/>
              <a:rect l="l" t="t" r="r" b="b"/>
              <a:pathLst>
                <a:path w="886460" h="72022">
                  <a:moveTo>
                    <a:pt x="0" y="0"/>
                  </a:moveTo>
                  <a:lnTo>
                    <a:pt x="886460" y="0"/>
                  </a:lnTo>
                  <a:lnTo>
                    <a:pt x="886460" y="72022"/>
                  </a:lnTo>
                  <a:lnTo>
                    <a:pt x="0" y="72022"/>
                  </a:lnTo>
                  <a:close/>
                </a:path>
              </a:pathLst>
            </a:custGeom>
            <a:solidFill>
              <a:srgbClr val="FFED0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886460" cy="110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463775" y="4451667"/>
            <a:ext cx="5082588" cy="1469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Việc áp dụng mạng truyền thẳng (MLP) cho dữ liệu chuỗi sẽ phải cần các tham số riêng biệt ở từng vị trí trong chuỗi, gây lãng phí và hạn chế khả năng khái quát hóa.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2486" y="2935433"/>
            <a:ext cx="8650416" cy="1577466"/>
            <a:chOff x="0" y="0"/>
            <a:chExt cx="2278299" cy="415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8299" cy="415464"/>
            </a:xfrm>
            <a:custGeom>
              <a:avLst/>
              <a:gdLst/>
              <a:ahLst/>
              <a:cxnLst/>
              <a:rect l="l" t="t" r="r" b="b"/>
              <a:pathLst>
                <a:path w="2278299" h="415464">
                  <a:moveTo>
                    <a:pt x="17005" y="0"/>
                  </a:moveTo>
                  <a:lnTo>
                    <a:pt x="2261294" y="0"/>
                  </a:lnTo>
                  <a:cubicBezTo>
                    <a:pt x="2265804" y="0"/>
                    <a:pt x="2270129" y="1792"/>
                    <a:pt x="2273318" y="4981"/>
                  </a:cubicBezTo>
                  <a:cubicBezTo>
                    <a:pt x="2276507" y="8169"/>
                    <a:pt x="2278299" y="12495"/>
                    <a:pt x="2278299" y="17005"/>
                  </a:cubicBezTo>
                  <a:lnTo>
                    <a:pt x="2278299" y="398460"/>
                  </a:lnTo>
                  <a:cubicBezTo>
                    <a:pt x="2278299" y="402970"/>
                    <a:pt x="2276507" y="407295"/>
                    <a:pt x="2273318" y="410484"/>
                  </a:cubicBezTo>
                  <a:cubicBezTo>
                    <a:pt x="2270129" y="413673"/>
                    <a:pt x="2265804" y="415464"/>
                    <a:pt x="2261294" y="415464"/>
                  </a:cubicBezTo>
                  <a:lnTo>
                    <a:pt x="17005" y="415464"/>
                  </a:lnTo>
                  <a:cubicBezTo>
                    <a:pt x="12495" y="415464"/>
                    <a:pt x="8169" y="413673"/>
                    <a:pt x="4981" y="410484"/>
                  </a:cubicBezTo>
                  <a:cubicBezTo>
                    <a:pt x="1792" y="407295"/>
                    <a:pt x="0" y="402970"/>
                    <a:pt x="0" y="398460"/>
                  </a:cubicBezTo>
                  <a:lnTo>
                    <a:pt x="0" y="17005"/>
                  </a:lnTo>
                  <a:cubicBezTo>
                    <a:pt x="0" y="12495"/>
                    <a:pt x="1792" y="8169"/>
                    <a:pt x="4981" y="4981"/>
                  </a:cubicBezTo>
                  <a:cubicBezTo>
                    <a:pt x="8169" y="1792"/>
                    <a:pt x="12495" y="0"/>
                    <a:pt x="17005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78299" cy="453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486" y="5153858"/>
            <a:ext cx="8650416" cy="1758970"/>
            <a:chOff x="0" y="0"/>
            <a:chExt cx="2278299" cy="4632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8299" cy="463268"/>
            </a:xfrm>
            <a:custGeom>
              <a:avLst/>
              <a:gdLst/>
              <a:ahLst/>
              <a:cxnLst/>
              <a:rect l="l" t="t" r="r" b="b"/>
              <a:pathLst>
                <a:path w="2278299" h="463268">
                  <a:moveTo>
                    <a:pt x="17005" y="0"/>
                  </a:moveTo>
                  <a:lnTo>
                    <a:pt x="2261294" y="0"/>
                  </a:lnTo>
                  <a:cubicBezTo>
                    <a:pt x="2265804" y="0"/>
                    <a:pt x="2270129" y="1792"/>
                    <a:pt x="2273318" y="4981"/>
                  </a:cubicBezTo>
                  <a:cubicBezTo>
                    <a:pt x="2276507" y="8169"/>
                    <a:pt x="2278299" y="12495"/>
                    <a:pt x="2278299" y="17005"/>
                  </a:cubicBezTo>
                  <a:lnTo>
                    <a:pt x="2278299" y="446263"/>
                  </a:lnTo>
                  <a:cubicBezTo>
                    <a:pt x="2278299" y="450773"/>
                    <a:pt x="2276507" y="455098"/>
                    <a:pt x="2273318" y="458287"/>
                  </a:cubicBezTo>
                  <a:cubicBezTo>
                    <a:pt x="2270129" y="461476"/>
                    <a:pt x="2265804" y="463268"/>
                    <a:pt x="2261294" y="463268"/>
                  </a:cubicBezTo>
                  <a:lnTo>
                    <a:pt x="17005" y="463268"/>
                  </a:lnTo>
                  <a:cubicBezTo>
                    <a:pt x="12495" y="463268"/>
                    <a:pt x="8169" y="461476"/>
                    <a:pt x="4981" y="458287"/>
                  </a:cubicBezTo>
                  <a:cubicBezTo>
                    <a:pt x="1792" y="455098"/>
                    <a:pt x="0" y="450773"/>
                    <a:pt x="0" y="446263"/>
                  </a:cubicBezTo>
                  <a:lnTo>
                    <a:pt x="0" y="17005"/>
                  </a:lnTo>
                  <a:cubicBezTo>
                    <a:pt x="0" y="12495"/>
                    <a:pt x="1792" y="8169"/>
                    <a:pt x="4981" y="4981"/>
                  </a:cubicBezTo>
                  <a:cubicBezTo>
                    <a:pt x="8169" y="1792"/>
                    <a:pt x="12495" y="0"/>
                    <a:pt x="17005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78299" cy="50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Ý TƯỞNG CỦA RNN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486" y="7554559"/>
            <a:ext cx="8650416" cy="1560866"/>
            <a:chOff x="0" y="0"/>
            <a:chExt cx="2278299" cy="4110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8299" cy="411092"/>
            </a:xfrm>
            <a:custGeom>
              <a:avLst/>
              <a:gdLst/>
              <a:ahLst/>
              <a:cxnLst/>
              <a:rect l="l" t="t" r="r" b="b"/>
              <a:pathLst>
                <a:path w="2278299" h="411092">
                  <a:moveTo>
                    <a:pt x="17005" y="0"/>
                  </a:moveTo>
                  <a:lnTo>
                    <a:pt x="2261294" y="0"/>
                  </a:lnTo>
                  <a:cubicBezTo>
                    <a:pt x="2265804" y="0"/>
                    <a:pt x="2270129" y="1792"/>
                    <a:pt x="2273318" y="4981"/>
                  </a:cubicBezTo>
                  <a:cubicBezTo>
                    <a:pt x="2276507" y="8169"/>
                    <a:pt x="2278299" y="12495"/>
                    <a:pt x="2278299" y="17005"/>
                  </a:cubicBezTo>
                  <a:lnTo>
                    <a:pt x="2278299" y="394088"/>
                  </a:lnTo>
                  <a:cubicBezTo>
                    <a:pt x="2278299" y="398598"/>
                    <a:pt x="2276507" y="402923"/>
                    <a:pt x="2273318" y="406112"/>
                  </a:cubicBezTo>
                  <a:cubicBezTo>
                    <a:pt x="2270129" y="409301"/>
                    <a:pt x="2265804" y="411092"/>
                    <a:pt x="2261294" y="411092"/>
                  </a:cubicBezTo>
                  <a:lnTo>
                    <a:pt x="17005" y="411092"/>
                  </a:lnTo>
                  <a:cubicBezTo>
                    <a:pt x="12495" y="411092"/>
                    <a:pt x="8169" y="409301"/>
                    <a:pt x="4981" y="406112"/>
                  </a:cubicBezTo>
                  <a:cubicBezTo>
                    <a:pt x="1792" y="402923"/>
                    <a:pt x="0" y="398598"/>
                    <a:pt x="0" y="394088"/>
                  </a:cubicBezTo>
                  <a:lnTo>
                    <a:pt x="0" y="17005"/>
                  </a:lnTo>
                  <a:cubicBezTo>
                    <a:pt x="0" y="12495"/>
                    <a:pt x="1792" y="8169"/>
                    <a:pt x="4981" y="4981"/>
                  </a:cubicBezTo>
                  <a:cubicBezTo>
                    <a:pt x="8169" y="1792"/>
                    <a:pt x="12495" y="0"/>
                    <a:pt x="17005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78299" cy="449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07717" y="3400951"/>
            <a:ext cx="8023381" cy="73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Mô hình tiếp nhận và xử lý chuỗi đầu vào theo từng phần tử (hoặc từng khối dữ liệu) tại mỗi thời điểm.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1983" y="5556765"/>
            <a:ext cx="8023381" cy="110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Lưu trữ ngữ cảnh từ các bước trước thông qua trạng thái ẩn (hidden state), giúp định hướng quá trình xử lý các phần tử tiếp theo.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1983" y="7881965"/>
            <a:ext cx="8032906" cy="110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Sử dụng chung một bộ trọng số (weights) cho mọi bước thời gian để nhận diện đặc trưng xuyên suốt chuỗi và tối ưu hóa số lượng tham số.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104940" y="4765467"/>
            <a:ext cx="7441423" cy="3027729"/>
          </a:xfrm>
          <a:custGeom>
            <a:avLst/>
            <a:gdLst/>
            <a:ahLst/>
            <a:cxnLst/>
            <a:rect l="l" t="t" r="r" b="b"/>
            <a:pathLst>
              <a:path w="7441423" h="3027729">
                <a:moveTo>
                  <a:pt x="0" y="0"/>
                </a:moveTo>
                <a:lnTo>
                  <a:pt x="7441423" y="0"/>
                </a:lnTo>
                <a:lnTo>
                  <a:pt x="7441423" y="3027729"/>
                </a:lnTo>
                <a:lnTo>
                  <a:pt x="0" y="302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596285" y="3815796"/>
            <a:ext cx="6803333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3200" b="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MẠNG NƠ-RON HỒI QUY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63D15F0-9D13-F7CA-175D-AD9851A28FB5}"/>
              </a:ext>
            </a:extLst>
          </p:cNvPr>
          <p:cNvSpPr/>
          <p:nvPr/>
        </p:nvSpPr>
        <p:spPr>
          <a:xfrm>
            <a:off x="1787749" y="2638372"/>
            <a:ext cx="6300481" cy="61017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850350" y="2675825"/>
            <a:ext cx="617528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Xử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lý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phần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tử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từng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bước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một</a:t>
            </a:r>
            <a:endParaRPr lang="en-US" sz="27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F5A8407-1EC2-6D89-6533-B3CCFDEF9E00}"/>
              </a:ext>
            </a:extLst>
          </p:cNvPr>
          <p:cNvSpPr/>
          <p:nvPr/>
        </p:nvSpPr>
        <p:spPr>
          <a:xfrm>
            <a:off x="1819306" y="4836322"/>
            <a:ext cx="6300481" cy="61017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762156" y="4989075"/>
            <a:ext cx="6458836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Duy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trì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trạng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thái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tại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bộ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nhớ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13E1FF3-65D7-585D-6C94-3E5AA78579BA}"/>
              </a:ext>
            </a:extLst>
          </p:cNvPr>
          <p:cNvSpPr/>
          <p:nvPr/>
        </p:nvSpPr>
        <p:spPr>
          <a:xfrm>
            <a:off x="1799038" y="7249469"/>
            <a:ext cx="7497378" cy="6101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819306" y="7350978"/>
            <a:ext cx="7497378" cy="41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Chia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sẻ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tham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số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giữa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bước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thời</a:t>
            </a: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gian</a:t>
            </a:r>
            <a:endParaRPr lang="en-US" sz="27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D81BDE-5CEC-B40D-9B71-5DDA00C2ABBF}"/>
              </a:ext>
            </a:extLst>
          </p:cNvPr>
          <p:cNvSpPr/>
          <p:nvPr/>
        </p:nvSpPr>
        <p:spPr>
          <a:xfrm>
            <a:off x="714948" y="2570995"/>
            <a:ext cx="627035" cy="610179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512201" y="2679464"/>
            <a:ext cx="1032998" cy="41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C357A31-3BDC-8044-C76D-637A8D4F6713}"/>
              </a:ext>
            </a:extLst>
          </p:cNvPr>
          <p:cNvSpPr/>
          <p:nvPr/>
        </p:nvSpPr>
        <p:spPr>
          <a:xfrm>
            <a:off x="730859" y="4863725"/>
            <a:ext cx="627035" cy="610179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50301" y="4934475"/>
            <a:ext cx="1032998" cy="41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064E3C-B1FF-E77A-4128-446F5610B396}"/>
              </a:ext>
            </a:extLst>
          </p:cNvPr>
          <p:cNvSpPr/>
          <p:nvPr/>
        </p:nvSpPr>
        <p:spPr>
          <a:xfrm>
            <a:off x="730233" y="7240234"/>
            <a:ext cx="627035" cy="610179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50301" y="7350978"/>
            <a:ext cx="1032998" cy="41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961692" y="3983258"/>
            <a:ext cx="12364617" cy="5030853"/>
          </a:xfrm>
          <a:custGeom>
            <a:avLst/>
            <a:gdLst/>
            <a:ahLst/>
            <a:cxnLst/>
            <a:rect l="l" t="t" r="r" b="b"/>
            <a:pathLst>
              <a:path w="12364617" h="5030853">
                <a:moveTo>
                  <a:pt x="0" y="0"/>
                </a:moveTo>
                <a:lnTo>
                  <a:pt x="12364616" y="0"/>
                </a:lnTo>
                <a:lnTo>
                  <a:pt x="12364616" y="5030854"/>
                </a:lnTo>
                <a:lnTo>
                  <a:pt x="0" y="5030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6889" y="4683252"/>
            <a:ext cx="3471211" cy="90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 i="1">
                <a:solidFill>
                  <a:srgbClr val="0372B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Trạng thái ẩn</a:t>
            </a:r>
          </a:p>
          <a:p>
            <a:pPr algn="ctr">
              <a:lnSpc>
                <a:spcPts val="3611"/>
              </a:lnSpc>
            </a:pPr>
            <a:r>
              <a:rPr lang="en-US" sz="2799" b="1" i="1">
                <a:solidFill>
                  <a:srgbClr val="0372B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(Hidden State)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61692" y="7516358"/>
            <a:ext cx="2019175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 i="1">
                <a:solidFill>
                  <a:srgbClr val="0372B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Đầu vào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Ý TƯỞNG CỦA RNN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21733" y="3539012"/>
            <a:ext cx="1610790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799" b="1" i="1">
                <a:solidFill>
                  <a:srgbClr val="0372B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Đầu 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2092" y="2499750"/>
            <a:ext cx="6803333" cy="4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3200" b="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MẠNG NƠ-RON HỒI QUY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244D541-F8BA-02E0-F061-FBC6F93177FF}"/>
              </a:ext>
            </a:extLst>
          </p:cNvPr>
          <p:cNvSpPr/>
          <p:nvPr/>
        </p:nvSpPr>
        <p:spPr>
          <a:xfrm>
            <a:off x="1378456" y="2592060"/>
            <a:ext cx="4031744" cy="6023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2383216" y="4441022"/>
            <a:ext cx="983395" cy="2777518"/>
            <a:chOff x="0" y="0"/>
            <a:chExt cx="259001" cy="731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001" cy="731527"/>
            </a:xfrm>
            <a:custGeom>
              <a:avLst/>
              <a:gdLst/>
              <a:ahLst/>
              <a:cxnLst/>
              <a:rect l="l" t="t" r="r" b="b"/>
              <a:pathLst>
                <a:path w="259001" h="731527">
                  <a:moveTo>
                    <a:pt x="0" y="0"/>
                  </a:moveTo>
                  <a:lnTo>
                    <a:pt x="259001" y="0"/>
                  </a:lnTo>
                  <a:lnTo>
                    <a:pt x="259001" y="731527"/>
                  </a:lnTo>
                  <a:lnTo>
                    <a:pt x="0" y="73152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9001" cy="769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5777" y="1986881"/>
            <a:ext cx="17662134" cy="8070940"/>
            <a:chOff x="0" y="0"/>
            <a:chExt cx="4651755" cy="2125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51755" cy="2125680"/>
            </a:xfrm>
            <a:custGeom>
              <a:avLst/>
              <a:gdLst/>
              <a:ahLst/>
              <a:cxnLst/>
              <a:rect l="l" t="t" r="r" b="b"/>
              <a:pathLst>
                <a:path w="4651755" h="2125680">
                  <a:moveTo>
                    <a:pt x="0" y="0"/>
                  </a:moveTo>
                  <a:lnTo>
                    <a:pt x="4651755" y="0"/>
                  </a:lnTo>
                  <a:lnTo>
                    <a:pt x="4651755" y="2125680"/>
                  </a:lnTo>
                  <a:lnTo>
                    <a:pt x="0" y="212568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651755" cy="2182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73390" y="4656076"/>
            <a:ext cx="609481" cy="2402944"/>
            <a:chOff x="0" y="0"/>
            <a:chExt cx="248113" cy="9782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73390" y="4656076"/>
            <a:ext cx="596859" cy="59685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73390" y="5252936"/>
            <a:ext cx="596859" cy="59685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73390" y="5849795"/>
            <a:ext cx="596859" cy="59685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573390" y="6446654"/>
            <a:ext cx="596859" cy="59685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25539" y="4671583"/>
            <a:ext cx="609481" cy="2402944"/>
            <a:chOff x="0" y="0"/>
            <a:chExt cx="248113" cy="9782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25539" y="4671583"/>
            <a:ext cx="596859" cy="59685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725539" y="5268442"/>
            <a:ext cx="596859" cy="59685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25539" y="5865302"/>
            <a:ext cx="596859" cy="596859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725539" y="6462161"/>
            <a:ext cx="596859" cy="596859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77639" y="4671583"/>
            <a:ext cx="609481" cy="2402944"/>
            <a:chOff x="0" y="0"/>
            <a:chExt cx="248113" cy="9782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77639" y="4671583"/>
            <a:ext cx="596859" cy="596859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77639" y="5268442"/>
            <a:ext cx="596859" cy="596859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77639" y="5865302"/>
            <a:ext cx="596859" cy="596859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77639" y="6462161"/>
            <a:ext cx="596859" cy="596859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45641" y="4640569"/>
            <a:ext cx="609481" cy="2402944"/>
            <a:chOff x="0" y="0"/>
            <a:chExt cx="248113" cy="97821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045641" y="4640569"/>
            <a:ext cx="596859" cy="596859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045641" y="5237429"/>
            <a:ext cx="596859" cy="596859"/>
            <a:chOff x="0" y="0"/>
            <a:chExt cx="812800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045641" y="5834288"/>
            <a:ext cx="596859" cy="596859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045641" y="6431148"/>
            <a:ext cx="596859" cy="596859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229547" y="4671583"/>
            <a:ext cx="609481" cy="2402944"/>
            <a:chOff x="0" y="0"/>
            <a:chExt cx="248113" cy="97821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229547" y="4671583"/>
            <a:ext cx="596859" cy="596859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229547" y="5268442"/>
            <a:ext cx="596859" cy="596859"/>
            <a:chOff x="0" y="0"/>
            <a:chExt cx="812800" cy="812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229547" y="5865302"/>
            <a:ext cx="596859" cy="596859"/>
            <a:chOff x="0" y="0"/>
            <a:chExt cx="812800" cy="812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1229547" y="6462161"/>
            <a:ext cx="596859" cy="596859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6" name="Freeform 86"/>
          <p:cNvSpPr/>
          <p:nvPr/>
        </p:nvSpPr>
        <p:spPr>
          <a:xfrm>
            <a:off x="3376530" y="5676130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09" y="0"/>
                </a:lnTo>
                <a:lnTo>
                  <a:pt x="1179709" y="330319"/>
                </a:lnTo>
                <a:lnTo>
                  <a:pt x="0" y="33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>
            <a:off x="5552068" y="5676130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09" y="0"/>
                </a:lnTo>
                <a:lnTo>
                  <a:pt x="1179709" y="330319"/>
                </a:lnTo>
                <a:lnTo>
                  <a:pt x="0" y="33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>
            <a:off x="7739164" y="5668347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09" y="0"/>
                </a:lnTo>
                <a:lnTo>
                  <a:pt x="1179709" y="330319"/>
                </a:lnTo>
                <a:lnTo>
                  <a:pt x="0" y="33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9" name="Freeform 89"/>
          <p:cNvSpPr/>
          <p:nvPr/>
        </p:nvSpPr>
        <p:spPr>
          <a:xfrm>
            <a:off x="9928701" y="5707263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09" y="0"/>
                </a:lnTo>
                <a:lnTo>
                  <a:pt x="1179709" y="330318"/>
                </a:lnTo>
                <a:lnTo>
                  <a:pt x="0" y="330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0" name="Freeform 90"/>
          <p:cNvSpPr/>
          <p:nvPr/>
        </p:nvSpPr>
        <p:spPr>
          <a:xfrm rot="-5400000">
            <a:off x="2594258" y="7406085"/>
            <a:ext cx="542497" cy="151899"/>
          </a:xfrm>
          <a:custGeom>
            <a:avLst/>
            <a:gdLst/>
            <a:ahLst/>
            <a:cxnLst/>
            <a:rect l="l" t="t" r="r" b="b"/>
            <a:pathLst>
              <a:path w="542497" h="151899">
                <a:moveTo>
                  <a:pt x="0" y="0"/>
                </a:moveTo>
                <a:lnTo>
                  <a:pt x="542497" y="0"/>
                </a:lnTo>
                <a:lnTo>
                  <a:pt x="542497" y="151899"/>
                </a:lnTo>
                <a:lnTo>
                  <a:pt x="0" y="15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1" name="Freeform 91"/>
          <p:cNvSpPr/>
          <p:nvPr/>
        </p:nvSpPr>
        <p:spPr>
          <a:xfrm rot="-5400000">
            <a:off x="4752908" y="7407337"/>
            <a:ext cx="524438" cy="146843"/>
          </a:xfrm>
          <a:custGeom>
            <a:avLst/>
            <a:gdLst/>
            <a:ahLst/>
            <a:cxnLst/>
            <a:rect l="l" t="t" r="r" b="b"/>
            <a:pathLst>
              <a:path w="524438" h="146843">
                <a:moveTo>
                  <a:pt x="0" y="0"/>
                </a:moveTo>
                <a:lnTo>
                  <a:pt x="524438" y="0"/>
                </a:lnTo>
                <a:lnTo>
                  <a:pt x="524438" y="146843"/>
                </a:lnTo>
                <a:lnTo>
                  <a:pt x="0" y="14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2" name="Freeform 92"/>
          <p:cNvSpPr/>
          <p:nvPr/>
        </p:nvSpPr>
        <p:spPr>
          <a:xfrm rot="-5400000">
            <a:off x="6895906" y="7402375"/>
            <a:ext cx="532191" cy="149014"/>
          </a:xfrm>
          <a:custGeom>
            <a:avLst/>
            <a:gdLst/>
            <a:ahLst/>
            <a:cxnLst/>
            <a:rect l="l" t="t" r="r" b="b"/>
            <a:pathLst>
              <a:path w="532191" h="149014">
                <a:moveTo>
                  <a:pt x="0" y="0"/>
                </a:moveTo>
                <a:lnTo>
                  <a:pt x="532191" y="0"/>
                </a:lnTo>
                <a:lnTo>
                  <a:pt x="532191" y="149014"/>
                </a:lnTo>
                <a:lnTo>
                  <a:pt x="0" y="149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3" name="Freeform 93"/>
          <p:cNvSpPr/>
          <p:nvPr/>
        </p:nvSpPr>
        <p:spPr>
          <a:xfrm rot="-5400000">
            <a:off x="9073010" y="7407337"/>
            <a:ext cx="524438" cy="146843"/>
          </a:xfrm>
          <a:custGeom>
            <a:avLst/>
            <a:gdLst/>
            <a:ahLst/>
            <a:cxnLst/>
            <a:rect l="l" t="t" r="r" b="b"/>
            <a:pathLst>
              <a:path w="524438" h="146843">
                <a:moveTo>
                  <a:pt x="0" y="0"/>
                </a:moveTo>
                <a:lnTo>
                  <a:pt x="524438" y="0"/>
                </a:lnTo>
                <a:lnTo>
                  <a:pt x="524438" y="146843"/>
                </a:lnTo>
                <a:lnTo>
                  <a:pt x="0" y="14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4" name="Freeform 94"/>
          <p:cNvSpPr/>
          <p:nvPr/>
        </p:nvSpPr>
        <p:spPr>
          <a:xfrm rot="-5400000">
            <a:off x="11222165" y="7407337"/>
            <a:ext cx="524438" cy="146843"/>
          </a:xfrm>
          <a:custGeom>
            <a:avLst/>
            <a:gdLst/>
            <a:ahLst/>
            <a:cxnLst/>
            <a:rect l="l" t="t" r="r" b="b"/>
            <a:pathLst>
              <a:path w="524438" h="146843">
                <a:moveTo>
                  <a:pt x="0" y="0"/>
                </a:moveTo>
                <a:lnTo>
                  <a:pt x="524438" y="0"/>
                </a:lnTo>
                <a:lnTo>
                  <a:pt x="524438" y="146843"/>
                </a:lnTo>
                <a:lnTo>
                  <a:pt x="0" y="14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5" name="Freeform 95"/>
          <p:cNvSpPr/>
          <p:nvPr/>
        </p:nvSpPr>
        <p:spPr>
          <a:xfrm rot="-5400000">
            <a:off x="11103083" y="4024631"/>
            <a:ext cx="757855" cy="212199"/>
          </a:xfrm>
          <a:custGeom>
            <a:avLst/>
            <a:gdLst/>
            <a:ahLst/>
            <a:cxnLst/>
            <a:rect l="l" t="t" r="r" b="b"/>
            <a:pathLst>
              <a:path w="757855" h="212199">
                <a:moveTo>
                  <a:pt x="0" y="0"/>
                </a:moveTo>
                <a:lnTo>
                  <a:pt x="757855" y="0"/>
                </a:lnTo>
                <a:lnTo>
                  <a:pt x="757855" y="212199"/>
                </a:lnTo>
                <a:lnTo>
                  <a:pt x="0" y="21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6" name="Freeform 96"/>
          <p:cNvSpPr/>
          <p:nvPr/>
        </p:nvSpPr>
        <p:spPr>
          <a:xfrm>
            <a:off x="788602" y="5660564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10" y="0"/>
                </a:lnTo>
                <a:lnTo>
                  <a:pt x="1179710" y="330318"/>
                </a:lnTo>
                <a:lnTo>
                  <a:pt x="0" y="330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12130145" y="5668347"/>
            <a:ext cx="1179709" cy="330319"/>
          </a:xfrm>
          <a:custGeom>
            <a:avLst/>
            <a:gdLst/>
            <a:ahLst/>
            <a:cxnLst/>
            <a:rect l="l" t="t" r="r" b="b"/>
            <a:pathLst>
              <a:path w="1179709" h="330319">
                <a:moveTo>
                  <a:pt x="0" y="0"/>
                </a:moveTo>
                <a:lnTo>
                  <a:pt x="1179709" y="0"/>
                </a:lnTo>
                <a:lnTo>
                  <a:pt x="1179709" y="330319"/>
                </a:lnTo>
                <a:lnTo>
                  <a:pt x="0" y="33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1661293" y="4209003"/>
            <a:ext cx="721923" cy="632739"/>
          </a:xfrm>
          <a:custGeom>
            <a:avLst/>
            <a:gdLst/>
            <a:ahLst/>
            <a:cxnLst/>
            <a:rect l="l" t="t" r="r" b="b"/>
            <a:pathLst>
              <a:path w="721923" h="632739">
                <a:moveTo>
                  <a:pt x="0" y="0"/>
                </a:moveTo>
                <a:lnTo>
                  <a:pt x="0" y="404139"/>
                </a:lnTo>
                <a:cubicBezTo>
                  <a:pt x="0" y="464768"/>
                  <a:pt x="24085" y="522913"/>
                  <a:pt x="66956" y="565784"/>
                </a:cubicBezTo>
                <a:cubicBezTo>
                  <a:pt x="109827" y="608654"/>
                  <a:pt x="167972" y="632739"/>
                  <a:pt x="228600" y="632739"/>
                </a:cubicBezTo>
                <a:lnTo>
                  <a:pt x="721923" y="632739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99" name="TextBox 99"/>
          <p:cNvSpPr txBox="1"/>
          <p:nvPr/>
        </p:nvSpPr>
        <p:spPr>
          <a:xfrm>
            <a:off x="1504288" y="2604358"/>
            <a:ext cx="3714944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MANY - TO - ONE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18232" y="3188139"/>
            <a:ext cx="177511" cy="39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sz="233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433353" y="9441004"/>
            <a:ext cx="81535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This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392597" y="9441004"/>
            <a:ext cx="141975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movie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979679" y="9441004"/>
            <a:ext cx="31663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931269" y="9441004"/>
            <a:ext cx="99743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very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919557" y="9441004"/>
            <a:ext cx="10287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good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10293417" y="2542034"/>
            <a:ext cx="2515645" cy="659859"/>
            <a:chOff x="0" y="0"/>
            <a:chExt cx="662557" cy="17379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662557" cy="173790"/>
            </a:xfrm>
            <a:custGeom>
              <a:avLst/>
              <a:gdLst/>
              <a:ahLst/>
              <a:cxnLst/>
              <a:rect l="l" t="t" r="r" b="b"/>
              <a:pathLst>
                <a:path w="662557" h="173790">
                  <a:moveTo>
                    <a:pt x="0" y="0"/>
                  </a:moveTo>
                  <a:lnTo>
                    <a:pt x="662557" y="0"/>
                  </a:lnTo>
                  <a:lnTo>
                    <a:pt x="662557" y="173790"/>
                  </a:lnTo>
                  <a:lnTo>
                    <a:pt x="0" y="1737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3B0D9"/>
              </a:solidFill>
              <a:prstDash val="dash"/>
              <a:miter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662557" cy="211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10734247" y="2586214"/>
            <a:ext cx="164770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Positive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4120777" y="2600883"/>
            <a:ext cx="3474748" cy="500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>
                <a:solidFill>
                  <a:srgbClr val="0372B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HIDDEN STATE: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h1 → context after "This"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h2 → context after "This movie" 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h3 → context after "This movie is" 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h4 → context after "This movie is very" 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EC232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h5 → context after full sequence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55581" y="5189804"/>
            <a:ext cx="5349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h₀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650730" y="5189804"/>
            <a:ext cx="42711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812354" y="5189804"/>
            <a:ext cx="42711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991945" y="5189804"/>
            <a:ext cx="42711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h₃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199332" y="5189804"/>
            <a:ext cx="5349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2381953" y="5189804"/>
            <a:ext cx="42711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653868" y="7685828"/>
            <a:ext cx="49843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x₁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828707" y="7685828"/>
            <a:ext cx="3905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x₂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943818" y="7685828"/>
            <a:ext cx="49843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x₃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166844" y="7685828"/>
            <a:ext cx="3905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x₄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1241267" y="7685828"/>
            <a:ext cx="56973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x₅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88602" y="3694653"/>
            <a:ext cx="186526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RNN Cell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12595508" y="3095540"/>
            <a:ext cx="1451428" cy="2141890"/>
          </a:xfrm>
          <a:custGeom>
            <a:avLst/>
            <a:gdLst/>
            <a:ahLst/>
            <a:cxnLst/>
            <a:rect l="l" t="t" r="r" b="b"/>
            <a:pathLst>
              <a:path w="1451428" h="2141890">
                <a:moveTo>
                  <a:pt x="0" y="2141889"/>
                </a:moveTo>
                <a:lnTo>
                  <a:pt x="0" y="2027589"/>
                </a:lnTo>
                <a:cubicBezTo>
                  <a:pt x="0" y="1997275"/>
                  <a:pt x="12043" y="1968202"/>
                  <a:pt x="33478" y="1946767"/>
                </a:cubicBezTo>
                <a:cubicBezTo>
                  <a:pt x="54913" y="1925331"/>
                  <a:pt x="83985" y="1913289"/>
                  <a:pt x="114300" y="1913289"/>
                </a:cubicBezTo>
                <a:lnTo>
                  <a:pt x="965551" y="1913289"/>
                </a:lnTo>
                <a:cubicBezTo>
                  <a:pt x="1026180" y="1913289"/>
                  <a:pt x="1084325" y="1889205"/>
                  <a:pt x="1127195" y="1846334"/>
                </a:cubicBezTo>
                <a:cubicBezTo>
                  <a:pt x="1170067" y="1803463"/>
                  <a:pt x="1194151" y="1745318"/>
                  <a:pt x="1194151" y="1684689"/>
                </a:cubicBezTo>
                <a:lnTo>
                  <a:pt x="1194151" y="128638"/>
                </a:lnTo>
                <a:cubicBezTo>
                  <a:pt x="1194151" y="94521"/>
                  <a:pt x="1207704" y="61801"/>
                  <a:pt x="1231828" y="37677"/>
                </a:cubicBezTo>
                <a:cubicBezTo>
                  <a:pt x="1255953" y="13553"/>
                  <a:pt x="1288672" y="0"/>
                  <a:pt x="1322790" y="0"/>
                </a:cubicBezTo>
                <a:lnTo>
                  <a:pt x="1451428" y="0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4" name="Group 124"/>
          <p:cNvGrpSpPr/>
          <p:nvPr/>
        </p:nvGrpSpPr>
        <p:grpSpPr>
          <a:xfrm>
            <a:off x="2536285" y="8515881"/>
            <a:ext cx="9203421" cy="744473"/>
            <a:chOff x="0" y="0"/>
            <a:chExt cx="2423946" cy="196075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2423946" cy="196075"/>
            </a:xfrm>
            <a:custGeom>
              <a:avLst/>
              <a:gdLst/>
              <a:ahLst/>
              <a:cxnLst/>
              <a:rect l="l" t="t" r="r" b="b"/>
              <a:pathLst>
                <a:path w="2423946" h="196075">
                  <a:moveTo>
                    <a:pt x="0" y="0"/>
                  </a:moveTo>
                  <a:lnTo>
                    <a:pt x="2423946" y="0"/>
                  </a:lnTo>
                  <a:lnTo>
                    <a:pt x="2423946" y="196075"/>
                  </a:lnTo>
                  <a:lnTo>
                    <a:pt x="0" y="19607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0" y="-47625"/>
              <a:ext cx="2423946" cy="24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i="1">
                  <a:solidFill>
                    <a:srgbClr val="00000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Embedding layer</a:t>
              </a:r>
            </a:p>
          </p:txBody>
        </p:sp>
      </p:grpSp>
      <p:sp>
        <p:nvSpPr>
          <p:cNvPr id="127" name="Freeform 127"/>
          <p:cNvSpPr/>
          <p:nvPr/>
        </p:nvSpPr>
        <p:spPr>
          <a:xfrm>
            <a:off x="2841031" y="8336686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8" name="Freeform 128"/>
          <p:cNvSpPr/>
          <p:nvPr/>
        </p:nvSpPr>
        <p:spPr>
          <a:xfrm>
            <a:off x="2841031" y="938392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9" name="Freeform 129"/>
          <p:cNvSpPr/>
          <p:nvPr/>
        </p:nvSpPr>
        <p:spPr>
          <a:xfrm>
            <a:off x="4991742" y="9332490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0" name="Freeform 130"/>
          <p:cNvSpPr/>
          <p:nvPr/>
        </p:nvSpPr>
        <p:spPr>
          <a:xfrm>
            <a:off x="7137995" y="938392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1" name="Freeform 131"/>
          <p:cNvSpPr/>
          <p:nvPr/>
        </p:nvSpPr>
        <p:spPr>
          <a:xfrm>
            <a:off x="9344071" y="938392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2" name="Freeform 132"/>
          <p:cNvSpPr/>
          <p:nvPr/>
        </p:nvSpPr>
        <p:spPr>
          <a:xfrm>
            <a:off x="11492700" y="942202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3" name="Freeform 133"/>
          <p:cNvSpPr/>
          <p:nvPr/>
        </p:nvSpPr>
        <p:spPr>
          <a:xfrm>
            <a:off x="5000840" y="837937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4" name="Freeform 134"/>
          <p:cNvSpPr/>
          <p:nvPr/>
        </p:nvSpPr>
        <p:spPr>
          <a:xfrm>
            <a:off x="7163015" y="8336686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5" name="Freeform 135"/>
          <p:cNvSpPr/>
          <p:nvPr/>
        </p:nvSpPr>
        <p:spPr>
          <a:xfrm>
            <a:off x="9329783" y="837937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6" name="Freeform 136"/>
          <p:cNvSpPr/>
          <p:nvPr/>
        </p:nvSpPr>
        <p:spPr>
          <a:xfrm>
            <a:off x="11496298" y="8341273"/>
            <a:ext cx="0" cy="136508"/>
          </a:xfrm>
          <a:custGeom>
            <a:avLst/>
            <a:gdLst/>
            <a:ahLst/>
            <a:cxnLst/>
            <a:rect l="l" t="t" r="r" b="b"/>
            <a:pathLst>
              <a:path h="136508">
                <a:moveTo>
                  <a:pt x="0" y="0"/>
                </a:moveTo>
                <a:lnTo>
                  <a:pt x="0" y="136508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7" name="Freeform 137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8" name="TextBox 138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113744B-783E-7077-A9D7-958847A75C3E}"/>
              </a:ext>
            </a:extLst>
          </p:cNvPr>
          <p:cNvSpPr/>
          <p:nvPr/>
        </p:nvSpPr>
        <p:spPr>
          <a:xfrm>
            <a:off x="1549158" y="2589176"/>
            <a:ext cx="4048328" cy="6023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4109468" y="4800955"/>
            <a:ext cx="916728" cy="2607683"/>
            <a:chOff x="0" y="0"/>
            <a:chExt cx="221388" cy="6297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388" cy="629751"/>
            </a:xfrm>
            <a:custGeom>
              <a:avLst/>
              <a:gdLst/>
              <a:ahLst/>
              <a:cxnLst/>
              <a:rect l="l" t="t" r="r" b="b"/>
              <a:pathLst>
                <a:path w="221388" h="629751">
                  <a:moveTo>
                    <a:pt x="0" y="0"/>
                  </a:moveTo>
                  <a:lnTo>
                    <a:pt x="221388" y="0"/>
                  </a:lnTo>
                  <a:lnTo>
                    <a:pt x="221388" y="629751"/>
                  </a:lnTo>
                  <a:lnTo>
                    <a:pt x="0" y="62975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1388" cy="667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25612" y="4607530"/>
            <a:ext cx="1183856" cy="569643"/>
          </a:xfrm>
          <a:custGeom>
            <a:avLst/>
            <a:gdLst/>
            <a:ahLst/>
            <a:cxnLst/>
            <a:rect l="l" t="t" r="r" b="b"/>
            <a:pathLst>
              <a:path w="1183856" h="569643">
                <a:moveTo>
                  <a:pt x="0" y="0"/>
                </a:moveTo>
                <a:lnTo>
                  <a:pt x="0" y="369617"/>
                </a:lnTo>
                <a:cubicBezTo>
                  <a:pt x="0" y="422667"/>
                  <a:pt x="21074" y="473544"/>
                  <a:pt x="58586" y="511056"/>
                </a:cubicBezTo>
                <a:cubicBezTo>
                  <a:pt x="96098" y="548568"/>
                  <a:pt x="146975" y="569642"/>
                  <a:pt x="200025" y="569642"/>
                </a:cubicBezTo>
                <a:lnTo>
                  <a:pt x="1183856" y="569642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4288587" y="5019064"/>
            <a:ext cx="566751" cy="2234478"/>
            <a:chOff x="0" y="0"/>
            <a:chExt cx="248113" cy="9782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88587" y="5019064"/>
            <a:ext cx="555015" cy="55501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8587" y="5574079"/>
            <a:ext cx="555015" cy="5550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88587" y="6129094"/>
            <a:ext cx="555015" cy="55501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88587" y="6684108"/>
            <a:ext cx="555015" cy="55501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9852" y="5033484"/>
            <a:ext cx="566751" cy="2234478"/>
            <a:chOff x="0" y="0"/>
            <a:chExt cx="248113" cy="9782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9852" y="5033484"/>
            <a:ext cx="555015" cy="55501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9852" y="5588498"/>
            <a:ext cx="555015" cy="55501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9852" y="6143513"/>
            <a:ext cx="555015" cy="55501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9852" y="6698528"/>
            <a:ext cx="555015" cy="55501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91070" y="5033484"/>
            <a:ext cx="566751" cy="2234478"/>
            <a:chOff x="0" y="0"/>
            <a:chExt cx="248113" cy="9782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91070" y="5033484"/>
            <a:ext cx="555015" cy="555015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91070" y="5588498"/>
            <a:ext cx="555015" cy="555015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91070" y="6143513"/>
            <a:ext cx="555015" cy="555015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91070" y="6698528"/>
            <a:ext cx="555015" cy="555015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307077" y="5004645"/>
            <a:ext cx="566751" cy="2234478"/>
            <a:chOff x="0" y="0"/>
            <a:chExt cx="248113" cy="97821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307077" y="5004645"/>
            <a:ext cx="555015" cy="555015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307077" y="5559660"/>
            <a:ext cx="555015" cy="555015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307077" y="6114674"/>
            <a:ext cx="555015" cy="555015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07077" y="6669689"/>
            <a:ext cx="555015" cy="555015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337873" y="5033484"/>
            <a:ext cx="566751" cy="2234478"/>
            <a:chOff x="0" y="0"/>
            <a:chExt cx="248113" cy="97821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337873" y="5033484"/>
            <a:ext cx="555015" cy="555015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337873" y="5588498"/>
            <a:ext cx="555015" cy="555015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337873" y="6143513"/>
            <a:ext cx="555015" cy="555015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337873" y="6698528"/>
            <a:ext cx="555015" cy="555015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1" name="Freeform 81"/>
          <p:cNvSpPr/>
          <p:nvPr/>
        </p:nvSpPr>
        <p:spPr>
          <a:xfrm rot="-5400000">
            <a:off x="4277805" y="7606461"/>
            <a:ext cx="588315" cy="164728"/>
          </a:xfrm>
          <a:custGeom>
            <a:avLst/>
            <a:gdLst/>
            <a:ahLst/>
            <a:cxnLst/>
            <a:rect l="l" t="t" r="r" b="b"/>
            <a:pathLst>
              <a:path w="588315" h="164728">
                <a:moveTo>
                  <a:pt x="0" y="0"/>
                </a:moveTo>
                <a:lnTo>
                  <a:pt x="588315" y="0"/>
                </a:lnTo>
                <a:lnTo>
                  <a:pt x="588315" y="164729"/>
                </a:lnTo>
                <a:lnTo>
                  <a:pt x="0" y="16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2" name="Freeform 82"/>
          <p:cNvSpPr/>
          <p:nvPr/>
        </p:nvSpPr>
        <p:spPr>
          <a:xfrm>
            <a:off x="5237005" y="5978291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1" y="0"/>
                </a:lnTo>
                <a:lnTo>
                  <a:pt x="899021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 rot="-5400000">
            <a:off x="4460501" y="4459711"/>
            <a:ext cx="579760" cy="162333"/>
          </a:xfrm>
          <a:custGeom>
            <a:avLst/>
            <a:gdLst/>
            <a:ahLst/>
            <a:cxnLst/>
            <a:rect l="l" t="t" r="r" b="b"/>
            <a:pathLst>
              <a:path w="579760" h="162333">
                <a:moveTo>
                  <a:pt x="0" y="0"/>
                </a:moveTo>
                <a:lnTo>
                  <a:pt x="579761" y="0"/>
                </a:lnTo>
                <a:lnTo>
                  <a:pt x="579761" y="162333"/>
                </a:lnTo>
                <a:lnTo>
                  <a:pt x="0" y="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4" name="Freeform 84"/>
          <p:cNvSpPr/>
          <p:nvPr/>
        </p:nvSpPr>
        <p:spPr>
          <a:xfrm rot="-5400000">
            <a:off x="6307061" y="4487437"/>
            <a:ext cx="579760" cy="162333"/>
          </a:xfrm>
          <a:custGeom>
            <a:avLst/>
            <a:gdLst/>
            <a:ahLst/>
            <a:cxnLst/>
            <a:rect l="l" t="t" r="r" b="b"/>
            <a:pathLst>
              <a:path w="579760" h="162333">
                <a:moveTo>
                  <a:pt x="0" y="0"/>
                </a:moveTo>
                <a:lnTo>
                  <a:pt x="579761" y="0"/>
                </a:lnTo>
                <a:lnTo>
                  <a:pt x="579761" y="162333"/>
                </a:lnTo>
                <a:lnTo>
                  <a:pt x="0" y="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5" name="Freeform 85"/>
          <p:cNvSpPr/>
          <p:nvPr/>
        </p:nvSpPr>
        <p:spPr>
          <a:xfrm rot="-5400000">
            <a:off x="8429713" y="4459711"/>
            <a:ext cx="579760" cy="162333"/>
          </a:xfrm>
          <a:custGeom>
            <a:avLst/>
            <a:gdLst/>
            <a:ahLst/>
            <a:cxnLst/>
            <a:rect l="l" t="t" r="r" b="b"/>
            <a:pathLst>
              <a:path w="579760" h="162333">
                <a:moveTo>
                  <a:pt x="0" y="0"/>
                </a:moveTo>
                <a:lnTo>
                  <a:pt x="579761" y="0"/>
                </a:lnTo>
                <a:lnTo>
                  <a:pt x="579761" y="162333"/>
                </a:lnTo>
                <a:lnTo>
                  <a:pt x="0" y="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6" name="Freeform 86"/>
          <p:cNvSpPr/>
          <p:nvPr/>
        </p:nvSpPr>
        <p:spPr>
          <a:xfrm rot="-5400000">
            <a:off x="10395560" y="4487437"/>
            <a:ext cx="579760" cy="162333"/>
          </a:xfrm>
          <a:custGeom>
            <a:avLst/>
            <a:gdLst/>
            <a:ahLst/>
            <a:cxnLst/>
            <a:rect l="l" t="t" r="r" b="b"/>
            <a:pathLst>
              <a:path w="579760" h="162333">
                <a:moveTo>
                  <a:pt x="0" y="0"/>
                </a:moveTo>
                <a:lnTo>
                  <a:pt x="579761" y="0"/>
                </a:lnTo>
                <a:lnTo>
                  <a:pt x="579761" y="162333"/>
                </a:lnTo>
                <a:lnTo>
                  <a:pt x="0" y="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7" name="Freeform 87"/>
          <p:cNvSpPr/>
          <p:nvPr/>
        </p:nvSpPr>
        <p:spPr>
          <a:xfrm rot="-5400000">
            <a:off x="12419601" y="4487437"/>
            <a:ext cx="579760" cy="162333"/>
          </a:xfrm>
          <a:custGeom>
            <a:avLst/>
            <a:gdLst/>
            <a:ahLst/>
            <a:cxnLst/>
            <a:rect l="l" t="t" r="r" b="b"/>
            <a:pathLst>
              <a:path w="579760" h="162333">
                <a:moveTo>
                  <a:pt x="0" y="0"/>
                </a:moveTo>
                <a:lnTo>
                  <a:pt x="579760" y="0"/>
                </a:lnTo>
                <a:lnTo>
                  <a:pt x="579760" y="162333"/>
                </a:lnTo>
                <a:lnTo>
                  <a:pt x="0" y="162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8" name="TextBox 88"/>
          <p:cNvSpPr txBox="1"/>
          <p:nvPr/>
        </p:nvSpPr>
        <p:spPr>
          <a:xfrm>
            <a:off x="3199717" y="5540873"/>
            <a:ext cx="479927" cy="44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h₀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271516" y="5557134"/>
            <a:ext cx="38322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195752" y="5567034"/>
            <a:ext cx="38322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242735" y="5542715"/>
            <a:ext cx="383204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h₃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114400" y="5598861"/>
            <a:ext cx="479970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 </a:t>
            </a:r>
          </a:p>
        </p:txBody>
      </p:sp>
      <p:sp>
        <p:nvSpPr>
          <p:cNvPr id="93" name="Freeform 93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4" name="Group 94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7" name="Freeform 97"/>
          <p:cNvSpPr/>
          <p:nvPr/>
        </p:nvSpPr>
        <p:spPr>
          <a:xfrm>
            <a:off x="3123812" y="5978291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1" y="0"/>
                </a:lnTo>
                <a:lnTo>
                  <a:pt x="899021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7246770" y="6010440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1" y="0"/>
                </a:lnTo>
                <a:lnTo>
                  <a:pt x="899021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9127261" y="6032174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1" y="0"/>
                </a:lnTo>
                <a:lnTo>
                  <a:pt x="899021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0" name="Freeform 100"/>
          <p:cNvSpPr/>
          <p:nvPr/>
        </p:nvSpPr>
        <p:spPr>
          <a:xfrm>
            <a:off x="11172933" y="6024860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2" y="0"/>
                </a:lnTo>
                <a:lnTo>
                  <a:pt x="899022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1" name="Freeform 101"/>
          <p:cNvSpPr/>
          <p:nvPr/>
        </p:nvSpPr>
        <p:spPr>
          <a:xfrm>
            <a:off x="13370777" y="6032174"/>
            <a:ext cx="899021" cy="251726"/>
          </a:xfrm>
          <a:custGeom>
            <a:avLst/>
            <a:gdLst/>
            <a:ahLst/>
            <a:cxnLst/>
            <a:rect l="l" t="t" r="r" b="b"/>
            <a:pathLst>
              <a:path w="899021" h="251726">
                <a:moveTo>
                  <a:pt x="0" y="0"/>
                </a:moveTo>
                <a:lnTo>
                  <a:pt x="899021" y="0"/>
                </a:lnTo>
                <a:lnTo>
                  <a:pt x="899021" y="251726"/>
                </a:lnTo>
                <a:lnTo>
                  <a:pt x="0" y="251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2" name="TextBox 102"/>
          <p:cNvSpPr txBox="1"/>
          <p:nvPr/>
        </p:nvSpPr>
        <p:spPr>
          <a:xfrm>
            <a:off x="4365682" y="8074659"/>
            <a:ext cx="509683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x₁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573227" y="8060225"/>
            <a:ext cx="465866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308574" y="8074659"/>
            <a:ext cx="509683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x₃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384917" y="8074659"/>
            <a:ext cx="499541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x₄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2366407" y="8074659"/>
            <a:ext cx="509683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x₅</a:t>
            </a:r>
          </a:p>
        </p:txBody>
      </p:sp>
      <p:sp>
        <p:nvSpPr>
          <p:cNvPr id="107" name="Freeform 107"/>
          <p:cNvSpPr/>
          <p:nvPr/>
        </p:nvSpPr>
        <p:spPr>
          <a:xfrm rot="-5400000">
            <a:off x="6342685" y="7606461"/>
            <a:ext cx="588315" cy="164728"/>
          </a:xfrm>
          <a:custGeom>
            <a:avLst/>
            <a:gdLst/>
            <a:ahLst/>
            <a:cxnLst/>
            <a:rect l="l" t="t" r="r" b="b"/>
            <a:pathLst>
              <a:path w="588315" h="164728">
                <a:moveTo>
                  <a:pt x="0" y="0"/>
                </a:moveTo>
                <a:lnTo>
                  <a:pt x="588315" y="0"/>
                </a:lnTo>
                <a:lnTo>
                  <a:pt x="588315" y="164729"/>
                </a:lnTo>
                <a:lnTo>
                  <a:pt x="0" y="16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8" name="Freeform 108"/>
          <p:cNvSpPr/>
          <p:nvPr/>
        </p:nvSpPr>
        <p:spPr>
          <a:xfrm rot="-5400000">
            <a:off x="8269258" y="7606461"/>
            <a:ext cx="588315" cy="164728"/>
          </a:xfrm>
          <a:custGeom>
            <a:avLst/>
            <a:gdLst/>
            <a:ahLst/>
            <a:cxnLst/>
            <a:rect l="l" t="t" r="r" b="b"/>
            <a:pathLst>
              <a:path w="588315" h="164728">
                <a:moveTo>
                  <a:pt x="0" y="0"/>
                </a:moveTo>
                <a:lnTo>
                  <a:pt x="588315" y="0"/>
                </a:lnTo>
                <a:lnTo>
                  <a:pt x="588315" y="164729"/>
                </a:lnTo>
                <a:lnTo>
                  <a:pt x="0" y="16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9" name="Freeform 109"/>
          <p:cNvSpPr/>
          <p:nvPr/>
        </p:nvSpPr>
        <p:spPr>
          <a:xfrm rot="-5400000">
            <a:off x="10296295" y="7606461"/>
            <a:ext cx="588315" cy="164728"/>
          </a:xfrm>
          <a:custGeom>
            <a:avLst/>
            <a:gdLst/>
            <a:ahLst/>
            <a:cxnLst/>
            <a:rect l="l" t="t" r="r" b="b"/>
            <a:pathLst>
              <a:path w="588315" h="164728">
                <a:moveTo>
                  <a:pt x="0" y="0"/>
                </a:moveTo>
                <a:lnTo>
                  <a:pt x="588315" y="0"/>
                </a:lnTo>
                <a:lnTo>
                  <a:pt x="588315" y="164729"/>
                </a:lnTo>
                <a:lnTo>
                  <a:pt x="0" y="16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0" name="Freeform 110"/>
          <p:cNvSpPr/>
          <p:nvPr/>
        </p:nvSpPr>
        <p:spPr>
          <a:xfrm rot="-5400000">
            <a:off x="12327091" y="7620432"/>
            <a:ext cx="588315" cy="164728"/>
          </a:xfrm>
          <a:custGeom>
            <a:avLst/>
            <a:gdLst/>
            <a:ahLst/>
            <a:cxnLst/>
            <a:rect l="l" t="t" r="r" b="b"/>
            <a:pathLst>
              <a:path w="588315" h="164728">
                <a:moveTo>
                  <a:pt x="0" y="0"/>
                </a:moveTo>
                <a:lnTo>
                  <a:pt x="588315" y="0"/>
                </a:lnTo>
                <a:lnTo>
                  <a:pt x="588315" y="164728"/>
                </a:lnTo>
                <a:lnTo>
                  <a:pt x="0" y="164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1" name="Freeform 111"/>
          <p:cNvSpPr/>
          <p:nvPr/>
        </p:nvSpPr>
        <p:spPr>
          <a:xfrm>
            <a:off x="4831548" y="4540878"/>
            <a:ext cx="1741679" cy="3810253"/>
          </a:xfrm>
          <a:custGeom>
            <a:avLst/>
            <a:gdLst/>
            <a:ahLst/>
            <a:cxnLst/>
            <a:rect l="l" t="t" r="r" b="b"/>
            <a:pathLst>
              <a:path w="1741679" h="3810253">
                <a:moveTo>
                  <a:pt x="0" y="0"/>
                </a:moveTo>
                <a:lnTo>
                  <a:pt x="0" y="26109"/>
                </a:lnTo>
                <a:cubicBezTo>
                  <a:pt x="0" y="33033"/>
                  <a:pt x="2751" y="39674"/>
                  <a:pt x="7647" y="44570"/>
                </a:cubicBezTo>
                <a:cubicBezTo>
                  <a:pt x="12544" y="49467"/>
                  <a:pt x="19184" y="52217"/>
                  <a:pt x="26109" y="52217"/>
                </a:cubicBezTo>
                <a:lnTo>
                  <a:pt x="860138" y="52217"/>
                </a:lnTo>
                <a:cubicBezTo>
                  <a:pt x="970609" y="52217"/>
                  <a:pt x="1060163" y="141771"/>
                  <a:pt x="1060163" y="252242"/>
                </a:cubicBezTo>
                <a:lnTo>
                  <a:pt x="1060163" y="3610228"/>
                </a:lnTo>
                <a:cubicBezTo>
                  <a:pt x="1060163" y="3720699"/>
                  <a:pt x="1149718" y="3810253"/>
                  <a:pt x="1260188" y="3810253"/>
                </a:cubicBezTo>
                <a:lnTo>
                  <a:pt x="1741679" y="3810253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12" name="Freeform 112"/>
          <p:cNvSpPr/>
          <p:nvPr/>
        </p:nvSpPr>
        <p:spPr>
          <a:xfrm>
            <a:off x="6611376" y="4607530"/>
            <a:ext cx="1741679" cy="3810254"/>
          </a:xfrm>
          <a:custGeom>
            <a:avLst/>
            <a:gdLst/>
            <a:ahLst/>
            <a:cxnLst/>
            <a:rect l="l" t="t" r="r" b="b"/>
            <a:pathLst>
              <a:path w="1741679" h="3810254">
                <a:moveTo>
                  <a:pt x="0" y="0"/>
                </a:moveTo>
                <a:lnTo>
                  <a:pt x="0" y="26108"/>
                </a:lnTo>
                <a:cubicBezTo>
                  <a:pt x="0" y="33033"/>
                  <a:pt x="2751" y="39674"/>
                  <a:pt x="7647" y="44570"/>
                </a:cubicBezTo>
                <a:cubicBezTo>
                  <a:pt x="12544" y="49467"/>
                  <a:pt x="19184" y="52217"/>
                  <a:pt x="26110" y="52217"/>
                </a:cubicBezTo>
                <a:lnTo>
                  <a:pt x="860138" y="52217"/>
                </a:lnTo>
                <a:cubicBezTo>
                  <a:pt x="970609" y="52217"/>
                  <a:pt x="1060163" y="141772"/>
                  <a:pt x="1060163" y="252242"/>
                </a:cubicBezTo>
                <a:lnTo>
                  <a:pt x="1060163" y="3610229"/>
                </a:lnTo>
                <a:cubicBezTo>
                  <a:pt x="1060163" y="3720700"/>
                  <a:pt x="1149718" y="3810254"/>
                  <a:pt x="1260188" y="3810254"/>
                </a:cubicBezTo>
                <a:lnTo>
                  <a:pt x="1741679" y="3810254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13" name="Freeform 113"/>
          <p:cNvSpPr/>
          <p:nvPr/>
        </p:nvSpPr>
        <p:spPr>
          <a:xfrm>
            <a:off x="8800760" y="4540878"/>
            <a:ext cx="1552024" cy="3862471"/>
          </a:xfrm>
          <a:custGeom>
            <a:avLst/>
            <a:gdLst/>
            <a:ahLst/>
            <a:cxnLst/>
            <a:rect l="l" t="t" r="r" b="b"/>
            <a:pathLst>
              <a:path w="1552024" h="3862471">
                <a:moveTo>
                  <a:pt x="0" y="0"/>
                </a:moveTo>
                <a:lnTo>
                  <a:pt x="0" y="52218"/>
                </a:lnTo>
                <a:cubicBezTo>
                  <a:pt x="0" y="66066"/>
                  <a:pt x="5501" y="79348"/>
                  <a:pt x="15294" y="89141"/>
                </a:cubicBezTo>
                <a:cubicBezTo>
                  <a:pt x="25087" y="98933"/>
                  <a:pt x="38369" y="104435"/>
                  <a:pt x="52217" y="104435"/>
                </a:cubicBezTo>
                <a:lnTo>
                  <a:pt x="670483" y="104435"/>
                </a:lnTo>
                <a:cubicBezTo>
                  <a:pt x="723533" y="104435"/>
                  <a:pt x="774410" y="125509"/>
                  <a:pt x="811921" y="163021"/>
                </a:cubicBezTo>
                <a:cubicBezTo>
                  <a:pt x="849434" y="200533"/>
                  <a:pt x="870508" y="251410"/>
                  <a:pt x="870508" y="304460"/>
                </a:cubicBezTo>
                <a:lnTo>
                  <a:pt x="870508" y="3662446"/>
                </a:lnTo>
                <a:cubicBezTo>
                  <a:pt x="870508" y="3772917"/>
                  <a:pt x="960062" y="3862471"/>
                  <a:pt x="1070533" y="3862471"/>
                </a:cubicBezTo>
                <a:lnTo>
                  <a:pt x="1552024" y="3862471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14" name="Freeform 114"/>
          <p:cNvSpPr/>
          <p:nvPr/>
        </p:nvSpPr>
        <p:spPr>
          <a:xfrm>
            <a:off x="10766607" y="4568604"/>
            <a:ext cx="1722979" cy="3849180"/>
          </a:xfrm>
          <a:custGeom>
            <a:avLst/>
            <a:gdLst/>
            <a:ahLst/>
            <a:cxnLst/>
            <a:rect l="l" t="t" r="r" b="b"/>
            <a:pathLst>
              <a:path w="1722979" h="3849180">
                <a:moveTo>
                  <a:pt x="0" y="0"/>
                </a:moveTo>
                <a:lnTo>
                  <a:pt x="0" y="12245"/>
                </a:lnTo>
                <a:cubicBezTo>
                  <a:pt x="0" y="19009"/>
                  <a:pt x="5483" y="24491"/>
                  <a:pt x="12246" y="24491"/>
                </a:cubicBezTo>
                <a:lnTo>
                  <a:pt x="841438" y="24491"/>
                </a:lnTo>
                <a:cubicBezTo>
                  <a:pt x="894488" y="24491"/>
                  <a:pt x="945365" y="45565"/>
                  <a:pt x="982877" y="83077"/>
                </a:cubicBezTo>
                <a:cubicBezTo>
                  <a:pt x="1020389" y="120589"/>
                  <a:pt x="1041463" y="171466"/>
                  <a:pt x="1041463" y="224516"/>
                </a:cubicBezTo>
                <a:lnTo>
                  <a:pt x="1041463" y="3649155"/>
                </a:lnTo>
                <a:cubicBezTo>
                  <a:pt x="1041463" y="3759626"/>
                  <a:pt x="1131017" y="3849180"/>
                  <a:pt x="1241488" y="3849180"/>
                </a:cubicBezTo>
                <a:lnTo>
                  <a:pt x="1689653" y="3849180"/>
                </a:lnTo>
                <a:cubicBezTo>
                  <a:pt x="1698491" y="3849180"/>
                  <a:pt x="1706968" y="3845668"/>
                  <a:pt x="1713218" y="3839419"/>
                </a:cubicBezTo>
                <a:cubicBezTo>
                  <a:pt x="1719467" y="3833169"/>
                  <a:pt x="1722979" y="3824692"/>
                  <a:pt x="1722979" y="3815854"/>
                </a:cubicBezTo>
                <a:lnTo>
                  <a:pt x="1722979" y="3782527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115" name="Group 115"/>
          <p:cNvGrpSpPr/>
          <p:nvPr/>
        </p:nvGrpSpPr>
        <p:grpSpPr>
          <a:xfrm>
            <a:off x="1066800" y="9258300"/>
            <a:ext cx="2372880" cy="467513"/>
            <a:chOff x="0" y="0"/>
            <a:chExt cx="624956" cy="123131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624956" cy="123131"/>
            </a:xfrm>
            <a:custGeom>
              <a:avLst/>
              <a:gdLst/>
              <a:ahLst/>
              <a:cxnLst/>
              <a:rect l="l" t="t" r="r" b="b"/>
              <a:pathLst>
                <a:path w="624956" h="123131">
                  <a:moveTo>
                    <a:pt x="0" y="0"/>
                  </a:moveTo>
                  <a:lnTo>
                    <a:pt x="624956" y="0"/>
                  </a:lnTo>
                  <a:lnTo>
                    <a:pt x="624956" y="123131"/>
                  </a:lnTo>
                  <a:lnTo>
                    <a:pt x="0" y="12313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624956" cy="161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8" name="TextBox 118"/>
          <p:cNvSpPr txBox="1"/>
          <p:nvPr/>
        </p:nvSpPr>
        <p:spPr>
          <a:xfrm>
            <a:off x="4505834" y="3740385"/>
            <a:ext cx="22937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388042" y="3753677"/>
            <a:ext cx="358634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0586740" y="3740385"/>
            <a:ext cx="235885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488701" y="3740385"/>
            <a:ext cx="358634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2146764" y="3740385"/>
            <a:ext cx="111369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&lt;End&gt;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3528471" y="5557134"/>
            <a:ext cx="38322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h₅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504681" y="2594833"/>
            <a:ext cx="4150063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- TO - MANY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955690" y="4053341"/>
            <a:ext cx="1842512" cy="450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RNN Cell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734163" y="8589798"/>
            <a:ext cx="1728967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Female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505834" y="3227873"/>
            <a:ext cx="49954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y₁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422411" y="3227873"/>
            <a:ext cx="49954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y₂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523734" y="3227873"/>
            <a:ext cx="453101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y₃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508089" y="3227873"/>
            <a:ext cx="49954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y₄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2538883" y="3227873"/>
            <a:ext cx="41871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y₅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304882" y="9201150"/>
            <a:ext cx="2004973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Timestep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407876" y="9200186"/>
            <a:ext cx="467489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t1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6368466" y="9201150"/>
            <a:ext cx="553487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t2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8374336" y="9200186"/>
            <a:ext cx="400220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t3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0369477" y="9201150"/>
            <a:ext cx="638153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t4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2447914" y="9200186"/>
            <a:ext cx="509683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t5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473856" y="8599323"/>
            <a:ext cx="229378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8356064" y="8612615"/>
            <a:ext cx="358634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2554762" y="8599323"/>
            <a:ext cx="235885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0456724" y="8599323"/>
            <a:ext cx="358634" cy="4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  <a:spcBef>
                <a:spcPct val="0"/>
              </a:spcBef>
            </a:pPr>
            <a:r>
              <a:rPr lang="en-US" sz="2691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42F69799-616D-4025-8C2A-487E56EDCCF4}"/>
              </a:ext>
            </a:extLst>
          </p:cNvPr>
          <p:cNvSpPr/>
          <p:nvPr/>
        </p:nvSpPr>
        <p:spPr>
          <a:xfrm>
            <a:off x="1476178" y="2543650"/>
            <a:ext cx="7363021" cy="6023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3640077" y="5269216"/>
            <a:ext cx="564395" cy="2225188"/>
            <a:chOff x="0" y="0"/>
            <a:chExt cx="248113" cy="9782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440" y="9062597"/>
            <a:ext cx="2372880" cy="467513"/>
            <a:chOff x="0" y="0"/>
            <a:chExt cx="624956" cy="12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4956" cy="123131"/>
            </a:xfrm>
            <a:custGeom>
              <a:avLst/>
              <a:gdLst/>
              <a:ahLst/>
              <a:cxnLst/>
              <a:rect l="l" t="t" r="r" b="b"/>
              <a:pathLst>
                <a:path w="624956" h="123131">
                  <a:moveTo>
                    <a:pt x="0" y="0"/>
                  </a:moveTo>
                  <a:lnTo>
                    <a:pt x="624956" y="0"/>
                  </a:lnTo>
                  <a:lnTo>
                    <a:pt x="624956" y="123131"/>
                  </a:lnTo>
                  <a:lnTo>
                    <a:pt x="0" y="12313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4956" cy="161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40077" y="5269216"/>
            <a:ext cx="552707" cy="5527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0077" y="5821923"/>
            <a:ext cx="552707" cy="5527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40077" y="6374630"/>
            <a:ext cx="552707" cy="5527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40077" y="6927337"/>
            <a:ext cx="552707" cy="55270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33022" y="5283575"/>
            <a:ext cx="564395" cy="2225188"/>
            <a:chOff x="0" y="0"/>
            <a:chExt cx="248113" cy="9782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33022" y="5283575"/>
            <a:ext cx="552707" cy="55270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33022" y="5836282"/>
            <a:ext cx="552707" cy="55270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33022" y="6388989"/>
            <a:ext cx="552707" cy="55270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33022" y="6941697"/>
            <a:ext cx="552707" cy="55270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5921" y="5283575"/>
            <a:ext cx="564395" cy="2225188"/>
            <a:chOff x="0" y="0"/>
            <a:chExt cx="248113" cy="9782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5921" y="5283575"/>
            <a:ext cx="552707" cy="55270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5921" y="5836282"/>
            <a:ext cx="552707" cy="55270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5921" y="6388989"/>
            <a:ext cx="552707" cy="55270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5921" y="6941697"/>
            <a:ext cx="552707" cy="552707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33547" y="5254856"/>
            <a:ext cx="564395" cy="2225188"/>
            <a:chOff x="0" y="0"/>
            <a:chExt cx="248113" cy="9782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33547" y="5254856"/>
            <a:ext cx="552707" cy="552707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633547" y="5807563"/>
            <a:ext cx="552707" cy="552707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33547" y="6360270"/>
            <a:ext cx="552707" cy="552707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633547" y="6912978"/>
            <a:ext cx="552707" cy="552707"/>
            <a:chOff x="0" y="0"/>
            <a:chExt cx="812800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655900" y="5283575"/>
            <a:ext cx="564395" cy="2225188"/>
            <a:chOff x="0" y="0"/>
            <a:chExt cx="248113" cy="9782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655900" y="5283575"/>
            <a:ext cx="552707" cy="552707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655900" y="5836282"/>
            <a:ext cx="552707" cy="552707"/>
            <a:chOff x="0" y="0"/>
            <a:chExt cx="812800" cy="812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655900" y="6388989"/>
            <a:ext cx="552707" cy="552707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655900" y="6941697"/>
            <a:ext cx="552707" cy="552707"/>
            <a:chOff x="0" y="0"/>
            <a:chExt cx="812800" cy="812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0" name="Freeform 80"/>
          <p:cNvSpPr/>
          <p:nvPr/>
        </p:nvSpPr>
        <p:spPr>
          <a:xfrm>
            <a:off x="4374620" y="621509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6381503" y="621509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8399048" y="620791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0418845" y="6243814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1987318" y="620073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85"/>
          <p:cNvSpPr/>
          <p:nvPr/>
        </p:nvSpPr>
        <p:spPr>
          <a:xfrm>
            <a:off x="12449625" y="620791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 rot="-5400000">
            <a:off x="5558479" y="4684481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3" y="0"/>
                </a:lnTo>
                <a:lnTo>
                  <a:pt x="701793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7" name="Freeform 87"/>
          <p:cNvSpPr/>
          <p:nvPr/>
        </p:nvSpPr>
        <p:spPr>
          <a:xfrm rot="-5400000">
            <a:off x="7551379" y="4684481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2" y="0"/>
                </a:lnTo>
                <a:lnTo>
                  <a:pt x="701792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8" name="Freeform 88"/>
          <p:cNvSpPr/>
          <p:nvPr/>
        </p:nvSpPr>
        <p:spPr>
          <a:xfrm rot="-5400000">
            <a:off x="9543731" y="4684481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3" y="0"/>
                </a:lnTo>
                <a:lnTo>
                  <a:pt x="701793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9" name="Freeform 89"/>
          <p:cNvSpPr/>
          <p:nvPr/>
        </p:nvSpPr>
        <p:spPr>
          <a:xfrm rot="-5400000">
            <a:off x="11581357" y="4684481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3" y="0"/>
                </a:lnTo>
                <a:lnTo>
                  <a:pt x="701793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0" name="Group 90"/>
          <p:cNvGrpSpPr/>
          <p:nvPr/>
        </p:nvGrpSpPr>
        <p:grpSpPr>
          <a:xfrm>
            <a:off x="13976172" y="5283575"/>
            <a:ext cx="564395" cy="2225188"/>
            <a:chOff x="0" y="0"/>
            <a:chExt cx="248113" cy="978213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3976172" y="5283575"/>
            <a:ext cx="552707" cy="552707"/>
            <a:chOff x="0" y="0"/>
            <a:chExt cx="812800" cy="8128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3976172" y="5836282"/>
            <a:ext cx="552707" cy="552707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3976172" y="6388989"/>
            <a:ext cx="552707" cy="552707"/>
            <a:chOff x="0" y="0"/>
            <a:chExt cx="812800" cy="8128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976172" y="6941697"/>
            <a:ext cx="552707" cy="552707"/>
            <a:chOff x="0" y="0"/>
            <a:chExt cx="812800" cy="8128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14769898" y="6207915"/>
            <a:ext cx="1088254" cy="304711"/>
          </a:xfrm>
          <a:custGeom>
            <a:avLst/>
            <a:gdLst/>
            <a:ahLst/>
            <a:cxnLst/>
            <a:rect l="l" t="t" r="r" b="b"/>
            <a:pathLst>
              <a:path w="1088254" h="304711">
                <a:moveTo>
                  <a:pt x="0" y="0"/>
                </a:moveTo>
                <a:lnTo>
                  <a:pt x="1088254" y="0"/>
                </a:lnTo>
                <a:lnTo>
                  <a:pt x="1088254" y="304711"/>
                </a:lnTo>
                <a:lnTo>
                  <a:pt x="0" y="30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6" name="Freeform 106"/>
          <p:cNvSpPr/>
          <p:nvPr/>
        </p:nvSpPr>
        <p:spPr>
          <a:xfrm rot="-5400000">
            <a:off x="13901630" y="4684481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2" y="0"/>
                </a:lnTo>
                <a:lnTo>
                  <a:pt x="701792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7" name="Freeform 107"/>
          <p:cNvSpPr/>
          <p:nvPr/>
        </p:nvSpPr>
        <p:spPr>
          <a:xfrm rot="-5400000">
            <a:off x="3593096" y="4664898"/>
            <a:ext cx="701793" cy="196502"/>
          </a:xfrm>
          <a:custGeom>
            <a:avLst/>
            <a:gdLst/>
            <a:ahLst/>
            <a:cxnLst/>
            <a:rect l="l" t="t" r="r" b="b"/>
            <a:pathLst>
              <a:path w="701793" h="196502">
                <a:moveTo>
                  <a:pt x="0" y="0"/>
                </a:moveTo>
                <a:lnTo>
                  <a:pt x="701793" y="0"/>
                </a:lnTo>
                <a:lnTo>
                  <a:pt x="701793" y="196502"/>
                </a:lnTo>
                <a:lnTo>
                  <a:pt x="0" y="19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8" name="Freeform 108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9" name="Group 109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4562929" y="5726553"/>
            <a:ext cx="461268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h1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478696" y="5726553"/>
            <a:ext cx="614092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h2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618600" y="5733733"/>
            <a:ext cx="463740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h3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631679" y="5726553"/>
            <a:ext cx="498826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h4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987318" y="5726553"/>
            <a:ext cx="704887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2699694" y="5726553"/>
            <a:ext cx="464869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h5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645236" y="3849566"/>
            <a:ext cx="599257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ĐT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640754" y="3849566"/>
            <a:ext cx="599257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ĐT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1707055" y="3869148"/>
            <a:ext cx="450397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TT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627255" y="3849566"/>
            <a:ext cx="534679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DT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4992377" y="5726553"/>
            <a:ext cx="480047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h6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4027327" y="3858602"/>
            <a:ext cx="450397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TT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640077" y="8375833"/>
            <a:ext cx="12501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136007" y="8325122"/>
            <a:ext cx="103227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Love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153386" y="8325122"/>
            <a:ext cx="147829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movie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7332313" y="8337159"/>
            <a:ext cx="74600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1722844" y="8325122"/>
            <a:ext cx="45191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3820412" y="8325122"/>
            <a:ext cx="1419588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much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674312" y="3849566"/>
            <a:ext cx="700307" cy="48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600765" y="9525501"/>
            <a:ext cx="11078224" cy="39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1"/>
              </a:lnSpc>
              <a:spcBef>
                <a:spcPct val="0"/>
              </a:spcBef>
            </a:pPr>
            <a:r>
              <a:rPr lang="en-US" sz="226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Mỗi input tại time step → một output tương ứng tại chính time step đó.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797831" y="3309138"/>
            <a:ext cx="371613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y₁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5749280" y="3316431"/>
            <a:ext cx="473905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y₂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716468" y="3309138"/>
            <a:ext cx="371613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y₃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657675" y="3309138"/>
            <a:ext cx="473905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y₄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1761327" y="3308905"/>
            <a:ext cx="371613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y₅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4057683" y="3308905"/>
            <a:ext cx="371613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y₆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552626" y="2533118"/>
            <a:ext cx="721012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MANY - TO - MANY (Same Length)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863394" y="8967393"/>
            <a:ext cx="2004973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Timestep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667202" y="8925771"/>
            <a:ext cx="392069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t1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667219" y="8925771"/>
            <a:ext cx="430214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t2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687862" y="8918758"/>
            <a:ext cx="400220" cy="5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t3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9726460" y="8967393"/>
            <a:ext cx="473459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t4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1764623" y="8967393"/>
            <a:ext cx="472578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t5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4021074" y="8967393"/>
            <a:ext cx="599724" cy="524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  <a:spcBef>
                <a:spcPct val="0"/>
              </a:spcBef>
            </a:pPr>
            <a:r>
              <a:rPr lang="en-US" sz="306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t6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3870685" y="7494404"/>
            <a:ext cx="0" cy="373754"/>
          </a:xfrm>
          <a:custGeom>
            <a:avLst/>
            <a:gdLst/>
            <a:ahLst/>
            <a:cxnLst/>
            <a:rect l="l" t="t" r="r" b="b"/>
            <a:pathLst>
              <a:path h="373754">
                <a:moveTo>
                  <a:pt x="0" y="0"/>
                </a:moveTo>
                <a:lnTo>
                  <a:pt x="0" y="37375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48" name="Freeform 148"/>
          <p:cNvSpPr/>
          <p:nvPr/>
        </p:nvSpPr>
        <p:spPr>
          <a:xfrm>
            <a:off x="5920311" y="7508763"/>
            <a:ext cx="0" cy="373754"/>
          </a:xfrm>
          <a:custGeom>
            <a:avLst/>
            <a:gdLst/>
            <a:ahLst/>
            <a:cxnLst/>
            <a:rect l="l" t="t" r="r" b="b"/>
            <a:pathLst>
              <a:path h="373754">
                <a:moveTo>
                  <a:pt x="0" y="0"/>
                </a:moveTo>
                <a:lnTo>
                  <a:pt x="0" y="37375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49" name="Freeform 149"/>
          <p:cNvSpPr/>
          <p:nvPr/>
        </p:nvSpPr>
        <p:spPr>
          <a:xfrm>
            <a:off x="7930186" y="7480044"/>
            <a:ext cx="0" cy="373755"/>
          </a:xfrm>
          <a:custGeom>
            <a:avLst/>
            <a:gdLst/>
            <a:ahLst/>
            <a:cxnLst/>
            <a:rect l="l" t="t" r="r" b="b"/>
            <a:pathLst>
              <a:path h="373755">
                <a:moveTo>
                  <a:pt x="0" y="0"/>
                </a:moveTo>
                <a:lnTo>
                  <a:pt x="0" y="373755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50" name="Freeform 150"/>
          <p:cNvSpPr/>
          <p:nvPr/>
        </p:nvSpPr>
        <p:spPr>
          <a:xfrm>
            <a:off x="9941568" y="7480044"/>
            <a:ext cx="0" cy="373755"/>
          </a:xfrm>
          <a:custGeom>
            <a:avLst/>
            <a:gdLst/>
            <a:ahLst/>
            <a:cxnLst/>
            <a:rect l="l" t="t" r="r" b="b"/>
            <a:pathLst>
              <a:path h="373755">
                <a:moveTo>
                  <a:pt x="0" y="0"/>
                </a:moveTo>
                <a:lnTo>
                  <a:pt x="0" y="373755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51" name="Freeform 151"/>
          <p:cNvSpPr/>
          <p:nvPr/>
        </p:nvSpPr>
        <p:spPr>
          <a:xfrm>
            <a:off x="11964512" y="7480044"/>
            <a:ext cx="0" cy="373755"/>
          </a:xfrm>
          <a:custGeom>
            <a:avLst/>
            <a:gdLst/>
            <a:ahLst/>
            <a:cxnLst/>
            <a:rect l="l" t="t" r="r" b="b"/>
            <a:pathLst>
              <a:path h="373755">
                <a:moveTo>
                  <a:pt x="0" y="0"/>
                </a:moveTo>
                <a:lnTo>
                  <a:pt x="0" y="373755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52" name="Freeform 152"/>
          <p:cNvSpPr/>
          <p:nvPr/>
        </p:nvSpPr>
        <p:spPr>
          <a:xfrm>
            <a:off x="14271924" y="7508763"/>
            <a:ext cx="0" cy="373754"/>
          </a:xfrm>
          <a:custGeom>
            <a:avLst/>
            <a:gdLst/>
            <a:ahLst/>
            <a:cxnLst/>
            <a:rect l="l" t="t" r="r" b="b"/>
            <a:pathLst>
              <a:path h="373754">
                <a:moveTo>
                  <a:pt x="0" y="0"/>
                </a:moveTo>
                <a:lnTo>
                  <a:pt x="0" y="373754"/>
                </a:lnTo>
              </a:path>
            </a:pathLst>
          </a:custGeom>
          <a:ln w="28575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53" name="TextBox 153"/>
          <p:cNvSpPr txBox="1"/>
          <p:nvPr/>
        </p:nvSpPr>
        <p:spPr>
          <a:xfrm>
            <a:off x="3617642" y="7799795"/>
            <a:ext cx="472859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x₁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680870" y="7799795"/>
            <a:ext cx="370484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x₂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687435" y="7799795"/>
            <a:ext cx="472859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x₃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796377" y="7799795"/>
            <a:ext cx="370484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x₄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11764342" y="7799795"/>
            <a:ext cx="472859" cy="48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4"/>
              </a:lnSpc>
              <a:spcBef>
                <a:spcPct val="0"/>
              </a:spcBef>
            </a:pPr>
            <a:r>
              <a:rPr lang="en-US" sz="28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x₅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3990786" y="7766807"/>
            <a:ext cx="4728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x₆</a:t>
            </a:r>
          </a:p>
        </p:txBody>
      </p:sp>
      <p:grpSp>
        <p:nvGrpSpPr>
          <p:cNvPr id="159" name="Group 159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E1962281-B589-EE0D-EFD7-0EDFDC362DEF}"/>
              </a:ext>
            </a:extLst>
          </p:cNvPr>
          <p:cNvSpPr/>
          <p:nvPr/>
        </p:nvSpPr>
        <p:spPr>
          <a:xfrm>
            <a:off x="1920779" y="2275657"/>
            <a:ext cx="8431800" cy="6023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36092" y="4876710"/>
            <a:ext cx="355756" cy="1402605"/>
            <a:chOff x="0" y="0"/>
            <a:chExt cx="248113" cy="9782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36092" y="4876710"/>
            <a:ext cx="348389" cy="3483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36092" y="5225099"/>
            <a:ext cx="348389" cy="3483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36092" y="5573487"/>
            <a:ext cx="348389" cy="34838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36092" y="5921876"/>
            <a:ext cx="348389" cy="34838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92308" y="4885761"/>
            <a:ext cx="355756" cy="1402605"/>
            <a:chOff x="0" y="0"/>
            <a:chExt cx="248113" cy="9782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92308" y="4885761"/>
            <a:ext cx="348389" cy="34838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592308" y="5234150"/>
            <a:ext cx="348389" cy="34838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92308" y="5582538"/>
            <a:ext cx="348389" cy="34838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592308" y="5930927"/>
            <a:ext cx="348389" cy="34838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848494" y="4885761"/>
            <a:ext cx="355756" cy="1402605"/>
            <a:chOff x="0" y="0"/>
            <a:chExt cx="248113" cy="9782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48494" y="4885761"/>
            <a:ext cx="348389" cy="348389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48494" y="5234150"/>
            <a:ext cx="348389" cy="348389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848494" y="5582538"/>
            <a:ext cx="348389" cy="348389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848494" y="5930927"/>
            <a:ext cx="348389" cy="348389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13963" y="4867659"/>
            <a:ext cx="355756" cy="1402605"/>
            <a:chOff x="0" y="0"/>
            <a:chExt cx="248113" cy="9782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13963" y="4867659"/>
            <a:ext cx="348389" cy="348389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13963" y="5216047"/>
            <a:ext cx="348389" cy="348389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113963" y="5564436"/>
            <a:ext cx="348389" cy="348389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13963" y="5912824"/>
            <a:ext cx="348389" cy="348389"/>
            <a:chOff x="0" y="0"/>
            <a:chExt cx="812800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388714" y="4885761"/>
            <a:ext cx="355756" cy="1402605"/>
            <a:chOff x="0" y="0"/>
            <a:chExt cx="248113" cy="9782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388714" y="4885761"/>
            <a:ext cx="348389" cy="348389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88714" y="5234150"/>
            <a:ext cx="348389" cy="348389"/>
            <a:chOff x="0" y="0"/>
            <a:chExt cx="812800" cy="812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388714" y="5582538"/>
            <a:ext cx="348389" cy="348389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88714" y="5930927"/>
            <a:ext cx="348389" cy="348389"/>
            <a:chOff x="0" y="0"/>
            <a:chExt cx="812800" cy="812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0" name="Freeform 80"/>
          <p:cNvSpPr/>
          <p:nvPr/>
        </p:nvSpPr>
        <p:spPr>
          <a:xfrm>
            <a:off x="2799098" y="5472927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4064098" y="5472927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5335819" y="5468401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1" y="0"/>
                </a:lnTo>
                <a:lnTo>
                  <a:pt x="685961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6608960" y="5491029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1" y="0"/>
                </a:lnTo>
                <a:lnTo>
                  <a:pt x="685961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 rot="-5400000">
            <a:off x="2329324" y="6500846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2" y="0"/>
                </a:lnTo>
                <a:lnTo>
                  <a:pt x="369292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5" name="Freeform 85"/>
          <p:cNvSpPr/>
          <p:nvPr/>
        </p:nvSpPr>
        <p:spPr>
          <a:xfrm>
            <a:off x="1294307" y="5463876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>
            <a:off x="7889024" y="5468401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 rot="-5400000">
            <a:off x="8814000" y="4464406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8" name="Freeform 88"/>
          <p:cNvSpPr/>
          <p:nvPr/>
        </p:nvSpPr>
        <p:spPr>
          <a:xfrm rot="-5400000">
            <a:off x="10074689" y="4464406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9" name="Group 89"/>
          <p:cNvGrpSpPr/>
          <p:nvPr/>
        </p:nvGrpSpPr>
        <p:grpSpPr>
          <a:xfrm>
            <a:off x="8851254" y="4885761"/>
            <a:ext cx="355756" cy="1402605"/>
            <a:chOff x="0" y="0"/>
            <a:chExt cx="248113" cy="97821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851254" y="4885761"/>
            <a:ext cx="348389" cy="348389"/>
            <a:chOff x="0" y="0"/>
            <a:chExt cx="812800" cy="8128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94" name="TextBox 9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1254" y="5234150"/>
            <a:ext cx="348389" cy="348389"/>
            <a:chOff x="0" y="0"/>
            <a:chExt cx="812800" cy="812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97" name="TextBox 9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851254" y="5582538"/>
            <a:ext cx="348389" cy="348389"/>
            <a:chOff x="0" y="0"/>
            <a:chExt cx="812800" cy="812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0" name="TextBox 10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851254" y="5930927"/>
            <a:ext cx="348389" cy="348389"/>
            <a:chOff x="0" y="0"/>
            <a:chExt cx="812800" cy="8128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03" name="TextBox 10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4" name="Freeform 104"/>
          <p:cNvSpPr/>
          <p:nvPr/>
        </p:nvSpPr>
        <p:spPr>
          <a:xfrm>
            <a:off x="9351564" y="5468401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5" name="Freeform 105"/>
          <p:cNvSpPr/>
          <p:nvPr/>
        </p:nvSpPr>
        <p:spPr>
          <a:xfrm rot="-5400000">
            <a:off x="11320762" y="4464406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6" name="Freeform 106"/>
          <p:cNvSpPr/>
          <p:nvPr/>
        </p:nvSpPr>
        <p:spPr>
          <a:xfrm rot="-5400000">
            <a:off x="3592086" y="6500846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1" y="0"/>
                </a:lnTo>
                <a:lnTo>
                  <a:pt x="369291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7" name="Freeform 107"/>
          <p:cNvSpPr/>
          <p:nvPr/>
        </p:nvSpPr>
        <p:spPr>
          <a:xfrm rot="-5400000">
            <a:off x="4848272" y="6500846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2" y="0"/>
                </a:lnTo>
                <a:lnTo>
                  <a:pt x="369292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8" name="Freeform 108"/>
          <p:cNvSpPr/>
          <p:nvPr/>
        </p:nvSpPr>
        <p:spPr>
          <a:xfrm>
            <a:off x="11201341" y="7419080"/>
            <a:ext cx="6072235" cy="2279080"/>
          </a:xfrm>
          <a:custGeom>
            <a:avLst/>
            <a:gdLst/>
            <a:ahLst/>
            <a:cxnLst/>
            <a:rect l="l" t="t" r="r" b="b"/>
            <a:pathLst>
              <a:path w="6072235" h="2279080">
                <a:moveTo>
                  <a:pt x="0" y="0"/>
                </a:moveTo>
                <a:lnTo>
                  <a:pt x="6072235" y="0"/>
                </a:lnTo>
                <a:lnTo>
                  <a:pt x="6072235" y="2279081"/>
                </a:lnTo>
                <a:lnTo>
                  <a:pt x="0" y="227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9" name="TextBox 109"/>
          <p:cNvSpPr txBox="1"/>
          <p:nvPr/>
        </p:nvSpPr>
        <p:spPr>
          <a:xfrm>
            <a:off x="1128767" y="8149434"/>
            <a:ext cx="9538973" cy="110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  <a:spcBef>
                <a:spcPct val="0"/>
              </a:spcBef>
            </a:pPr>
            <a:r>
              <a:rPr lang="en-US" sz="315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Đọc cả chuỗi vào → hiểu ngữ cảnh                 </a:t>
            </a:r>
          </a:p>
          <a:p>
            <a:pPr algn="l">
              <a:lnSpc>
                <a:spcPts val="4418"/>
              </a:lnSpc>
              <a:spcBef>
                <a:spcPct val="0"/>
              </a:spcBef>
            </a:pPr>
            <a:r>
              <a:rPr lang="en-US" sz="315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sinh ra một chuỗi mới, độ dài có thể khác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171969" y="3997849"/>
            <a:ext cx="311771" cy="28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Đã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851254" y="4003201"/>
            <a:ext cx="385825" cy="28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Tôi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256929" y="4008554"/>
            <a:ext cx="561868" cy="28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Phải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453610" y="6971206"/>
            <a:ext cx="71569" cy="29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71635" y="6971206"/>
            <a:ext cx="685960" cy="285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171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Have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690094" y="6971206"/>
            <a:ext cx="825602" cy="285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171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Fallen</a:t>
            </a:r>
          </a:p>
        </p:txBody>
      </p:sp>
      <p:sp>
        <p:nvSpPr>
          <p:cNvPr id="116" name="Freeform 116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7" name="TextBox 117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676401" y="2302912"/>
            <a:ext cx="8887768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MANY - TO - MANY (Different Lengths)</a:t>
            </a:r>
          </a:p>
        </p:txBody>
      </p:sp>
      <p:sp>
        <p:nvSpPr>
          <p:cNvPr id="119" name="Freeform 119"/>
          <p:cNvSpPr/>
          <p:nvPr/>
        </p:nvSpPr>
        <p:spPr>
          <a:xfrm rot="-5400000">
            <a:off x="6107195" y="6479549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1" y="0"/>
                </a:lnTo>
                <a:lnTo>
                  <a:pt x="369291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0" name="TextBox 120"/>
          <p:cNvSpPr txBox="1"/>
          <p:nvPr/>
        </p:nvSpPr>
        <p:spPr>
          <a:xfrm>
            <a:off x="6042909" y="6941773"/>
            <a:ext cx="587296" cy="285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171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</a:t>
            </a:r>
          </a:p>
        </p:txBody>
      </p:sp>
      <p:sp>
        <p:nvSpPr>
          <p:cNvPr id="121" name="Freeform 121"/>
          <p:cNvSpPr/>
          <p:nvPr/>
        </p:nvSpPr>
        <p:spPr>
          <a:xfrm rot="-5400000">
            <a:off x="7392558" y="6479549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2" y="0"/>
                </a:lnTo>
                <a:lnTo>
                  <a:pt x="369292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2" name="TextBox 122"/>
          <p:cNvSpPr txBox="1"/>
          <p:nvPr/>
        </p:nvSpPr>
        <p:spPr>
          <a:xfrm>
            <a:off x="7360787" y="6949908"/>
            <a:ext cx="383683" cy="29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171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</a:t>
            </a:r>
          </a:p>
        </p:txBody>
      </p:sp>
      <p:sp>
        <p:nvSpPr>
          <p:cNvPr id="123" name="Freeform 123"/>
          <p:cNvSpPr/>
          <p:nvPr/>
        </p:nvSpPr>
        <p:spPr>
          <a:xfrm rot="-5400000">
            <a:off x="12649434" y="4474522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4" name="TextBox 124"/>
          <p:cNvSpPr txBox="1"/>
          <p:nvPr/>
        </p:nvSpPr>
        <p:spPr>
          <a:xfrm>
            <a:off x="12582621" y="4018670"/>
            <a:ext cx="567829" cy="28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Lòng</a:t>
            </a:r>
          </a:p>
        </p:txBody>
      </p:sp>
      <p:sp>
        <p:nvSpPr>
          <p:cNvPr id="125" name="Freeform 125"/>
          <p:cNvSpPr/>
          <p:nvPr/>
        </p:nvSpPr>
        <p:spPr>
          <a:xfrm rot="-5400000">
            <a:off x="13887706" y="4464406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6" name="TextBox 126"/>
          <p:cNvSpPr txBox="1"/>
          <p:nvPr/>
        </p:nvSpPr>
        <p:spPr>
          <a:xfrm>
            <a:off x="13914274" y="3997849"/>
            <a:ext cx="348221" cy="284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685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cô</a:t>
            </a:r>
            <a:endParaRPr lang="en-US" sz="1685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7" name="Freeform 127"/>
          <p:cNvSpPr/>
          <p:nvPr/>
        </p:nvSpPr>
        <p:spPr>
          <a:xfrm rot="-5400000">
            <a:off x="15259458" y="4464406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2" y="0"/>
                </a:lnTo>
                <a:lnTo>
                  <a:pt x="434202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8" name="TextBox 128"/>
          <p:cNvSpPr txBox="1"/>
          <p:nvPr/>
        </p:nvSpPr>
        <p:spPr>
          <a:xfrm>
            <a:off x="15309528" y="4008046"/>
            <a:ext cx="348221" cy="284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168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685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ấy</a:t>
            </a:r>
            <a:endParaRPr lang="en-US" sz="1685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2433808" y="6663438"/>
            <a:ext cx="335528" cy="3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sz="201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x₁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685417" y="6642141"/>
            <a:ext cx="262885" cy="3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x₂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881842" y="6663438"/>
            <a:ext cx="335528" cy="3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sz="201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x₃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170468" y="6642141"/>
            <a:ext cx="262885" cy="3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x₄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7395145" y="6642141"/>
            <a:ext cx="335528" cy="3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x₅</a:t>
            </a:r>
          </a:p>
        </p:txBody>
      </p:sp>
      <p:grpSp>
        <p:nvGrpSpPr>
          <p:cNvPr id="134" name="Group 134"/>
          <p:cNvGrpSpPr/>
          <p:nvPr/>
        </p:nvGrpSpPr>
        <p:grpSpPr>
          <a:xfrm>
            <a:off x="10179940" y="4876710"/>
            <a:ext cx="355756" cy="1402605"/>
            <a:chOff x="0" y="0"/>
            <a:chExt cx="248113" cy="978213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36" name="TextBox 136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179940" y="4876710"/>
            <a:ext cx="348389" cy="348389"/>
            <a:chOff x="0" y="0"/>
            <a:chExt cx="812800" cy="8128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39" name="TextBox 1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0179940" y="5225099"/>
            <a:ext cx="348389" cy="348389"/>
            <a:chOff x="0" y="0"/>
            <a:chExt cx="812800" cy="81280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42" name="TextBox 1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179940" y="5573487"/>
            <a:ext cx="348389" cy="348389"/>
            <a:chOff x="0" y="0"/>
            <a:chExt cx="812800" cy="8128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45" name="TextBox 1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0179940" y="5921876"/>
            <a:ext cx="348389" cy="348389"/>
            <a:chOff x="0" y="0"/>
            <a:chExt cx="812800" cy="8128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48" name="TextBox 1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1436155" y="4885761"/>
            <a:ext cx="355756" cy="1402605"/>
            <a:chOff x="0" y="0"/>
            <a:chExt cx="248113" cy="978213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51" name="TextBox 151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1436155" y="4885761"/>
            <a:ext cx="348389" cy="348389"/>
            <a:chOff x="0" y="0"/>
            <a:chExt cx="812800" cy="81280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54" name="TextBox 15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1436155" y="5234150"/>
            <a:ext cx="348389" cy="348389"/>
            <a:chOff x="0" y="0"/>
            <a:chExt cx="812800" cy="81280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57" name="TextBox 1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1436155" y="5582538"/>
            <a:ext cx="348389" cy="348389"/>
            <a:chOff x="0" y="0"/>
            <a:chExt cx="812800" cy="812800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0" name="TextBox 16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1436155" y="5930927"/>
            <a:ext cx="348389" cy="348389"/>
            <a:chOff x="0" y="0"/>
            <a:chExt cx="812800" cy="812800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3" name="TextBox 16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12692341" y="4885761"/>
            <a:ext cx="355756" cy="1402605"/>
            <a:chOff x="0" y="0"/>
            <a:chExt cx="248113" cy="978213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66" name="TextBox 166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12692341" y="4885761"/>
            <a:ext cx="348389" cy="348389"/>
            <a:chOff x="0" y="0"/>
            <a:chExt cx="812800" cy="812800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69" name="TextBox 16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12692341" y="5234150"/>
            <a:ext cx="348389" cy="348389"/>
            <a:chOff x="0" y="0"/>
            <a:chExt cx="812800" cy="812800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72" name="TextBox 17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12692341" y="5582538"/>
            <a:ext cx="348389" cy="348389"/>
            <a:chOff x="0" y="0"/>
            <a:chExt cx="812800" cy="812800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75" name="TextBox 17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12692341" y="5930927"/>
            <a:ext cx="348389" cy="348389"/>
            <a:chOff x="0" y="0"/>
            <a:chExt cx="812800" cy="812800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78" name="TextBox 17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3957810" y="4867659"/>
            <a:ext cx="355756" cy="1402605"/>
            <a:chOff x="0" y="0"/>
            <a:chExt cx="248113" cy="978213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81" name="TextBox 181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3957810" y="4867659"/>
            <a:ext cx="348389" cy="348389"/>
            <a:chOff x="0" y="0"/>
            <a:chExt cx="812800" cy="812800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84" name="TextBox 18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13957810" y="5216047"/>
            <a:ext cx="348389" cy="348389"/>
            <a:chOff x="0" y="0"/>
            <a:chExt cx="812800" cy="812800"/>
          </a:xfrm>
        </p:grpSpPr>
        <p:sp>
          <p:nvSpPr>
            <p:cNvPr id="186" name="Freeform 1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87" name="TextBox 18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8" name="Group 188"/>
          <p:cNvGrpSpPr/>
          <p:nvPr/>
        </p:nvGrpSpPr>
        <p:grpSpPr>
          <a:xfrm>
            <a:off x="13957810" y="5564436"/>
            <a:ext cx="348389" cy="348389"/>
            <a:chOff x="0" y="0"/>
            <a:chExt cx="812800" cy="812800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0" name="TextBox 19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13957810" y="5912824"/>
            <a:ext cx="348389" cy="348389"/>
            <a:chOff x="0" y="0"/>
            <a:chExt cx="812800" cy="812800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3" name="TextBox 19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15232562" y="4885761"/>
            <a:ext cx="355756" cy="1402605"/>
            <a:chOff x="0" y="0"/>
            <a:chExt cx="248113" cy="978213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196" name="TextBox 196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15232562" y="4885761"/>
            <a:ext cx="348389" cy="348389"/>
            <a:chOff x="0" y="0"/>
            <a:chExt cx="812800" cy="812800"/>
          </a:xfrm>
        </p:grpSpPr>
        <p:sp>
          <p:nvSpPr>
            <p:cNvPr id="198" name="Freeform 1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199" name="TextBox 19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15232562" y="5234150"/>
            <a:ext cx="348389" cy="348389"/>
            <a:chOff x="0" y="0"/>
            <a:chExt cx="812800" cy="812800"/>
          </a:xfrm>
        </p:grpSpPr>
        <p:sp>
          <p:nvSpPr>
            <p:cNvPr id="201" name="Freeform 20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02" name="TextBox 20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3" name="Group 203"/>
          <p:cNvGrpSpPr/>
          <p:nvPr/>
        </p:nvGrpSpPr>
        <p:grpSpPr>
          <a:xfrm>
            <a:off x="15232562" y="5582538"/>
            <a:ext cx="348389" cy="348389"/>
            <a:chOff x="0" y="0"/>
            <a:chExt cx="812800" cy="812800"/>
          </a:xfrm>
        </p:grpSpPr>
        <p:sp>
          <p:nvSpPr>
            <p:cNvPr id="204" name="Freeform 20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05" name="TextBox 20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6" name="Group 206"/>
          <p:cNvGrpSpPr/>
          <p:nvPr/>
        </p:nvGrpSpPr>
        <p:grpSpPr>
          <a:xfrm>
            <a:off x="15232562" y="5930927"/>
            <a:ext cx="348389" cy="348389"/>
            <a:chOff x="0" y="0"/>
            <a:chExt cx="812800" cy="812800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08" name="TextBox 20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9" name="Freeform 209"/>
          <p:cNvSpPr/>
          <p:nvPr/>
        </p:nvSpPr>
        <p:spPr>
          <a:xfrm>
            <a:off x="10642945" y="5472927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1" y="0"/>
                </a:lnTo>
                <a:lnTo>
                  <a:pt x="685961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0" name="Freeform 210"/>
          <p:cNvSpPr/>
          <p:nvPr/>
        </p:nvSpPr>
        <p:spPr>
          <a:xfrm>
            <a:off x="11907946" y="5472927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1" name="Freeform 211"/>
          <p:cNvSpPr/>
          <p:nvPr/>
        </p:nvSpPr>
        <p:spPr>
          <a:xfrm>
            <a:off x="13179667" y="5468401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2" name="Freeform 212"/>
          <p:cNvSpPr/>
          <p:nvPr/>
        </p:nvSpPr>
        <p:spPr>
          <a:xfrm>
            <a:off x="14452808" y="5491029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3" name="Freeform 213"/>
          <p:cNvSpPr/>
          <p:nvPr/>
        </p:nvSpPr>
        <p:spPr>
          <a:xfrm>
            <a:off x="15732872" y="5468401"/>
            <a:ext cx="685960" cy="192069"/>
          </a:xfrm>
          <a:custGeom>
            <a:avLst/>
            <a:gdLst/>
            <a:ahLst/>
            <a:cxnLst/>
            <a:rect l="l" t="t" r="r" b="b"/>
            <a:pathLst>
              <a:path w="685960" h="192069">
                <a:moveTo>
                  <a:pt x="0" y="0"/>
                </a:moveTo>
                <a:lnTo>
                  <a:pt x="685960" y="0"/>
                </a:lnTo>
                <a:lnTo>
                  <a:pt x="685960" y="192069"/>
                </a:lnTo>
                <a:lnTo>
                  <a:pt x="0" y="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4" name="Freeform 214"/>
          <p:cNvSpPr/>
          <p:nvPr/>
        </p:nvSpPr>
        <p:spPr>
          <a:xfrm>
            <a:off x="1189583" y="4697244"/>
            <a:ext cx="197971" cy="1717986"/>
          </a:xfrm>
          <a:custGeom>
            <a:avLst/>
            <a:gdLst/>
            <a:ahLst/>
            <a:cxnLst/>
            <a:rect l="l" t="t" r="r" b="b"/>
            <a:pathLst>
              <a:path w="197971" h="1717986">
                <a:moveTo>
                  <a:pt x="197971" y="45051"/>
                </a:moveTo>
                <a:lnTo>
                  <a:pt x="197971" y="22526"/>
                </a:lnTo>
                <a:cubicBezTo>
                  <a:pt x="197971" y="16552"/>
                  <a:pt x="195597" y="10822"/>
                  <a:pt x="191373" y="6598"/>
                </a:cubicBezTo>
                <a:cubicBezTo>
                  <a:pt x="187149" y="2373"/>
                  <a:pt x="181419" y="0"/>
                  <a:pt x="175445" y="0"/>
                </a:cubicBezTo>
                <a:lnTo>
                  <a:pt x="98985" y="0"/>
                </a:lnTo>
                <a:cubicBezTo>
                  <a:pt x="44317" y="0"/>
                  <a:pt x="0" y="44317"/>
                  <a:pt x="0" y="98985"/>
                </a:cubicBezTo>
                <a:lnTo>
                  <a:pt x="0" y="1665624"/>
                </a:lnTo>
                <a:cubicBezTo>
                  <a:pt x="0" y="1694543"/>
                  <a:pt x="23443" y="1717986"/>
                  <a:pt x="52362" y="1717986"/>
                </a:cubicBezTo>
                <a:lnTo>
                  <a:pt x="104724" y="1717986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5" name="Freeform 215"/>
          <p:cNvSpPr/>
          <p:nvPr/>
        </p:nvSpPr>
        <p:spPr>
          <a:xfrm>
            <a:off x="7744470" y="4683905"/>
            <a:ext cx="241808" cy="1717986"/>
          </a:xfrm>
          <a:custGeom>
            <a:avLst/>
            <a:gdLst/>
            <a:ahLst/>
            <a:cxnLst/>
            <a:rect l="l" t="t" r="r" b="b"/>
            <a:pathLst>
              <a:path w="241808" h="1717986">
                <a:moveTo>
                  <a:pt x="0" y="0"/>
                </a:moveTo>
                <a:lnTo>
                  <a:pt x="120904" y="0"/>
                </a:lnTo>
                <a:cubicBezTo>
                  <a:pt x="152970" y="0"/>
                  <a:pt x="183722" y="12738"/>
                  <a:pt x="206396" y="35412"/>
                </a:cubicBezTo>
                <a:cubicBezTo>
                  <a:pt x="229070" y="58086"/>
                  <a:pt x="241808" y="88838"/>
                  <a:pt x="241808" y="120904"/>
                </a:cubicBezTo>
                <a:lnTo>
                  <a:pt x="241808" y="1642189"/>
                </a:lnTo>
                <a:cubicBezTo>
                  <a:pt x="241808" y="1662291"/>
                  <a:pt x="233822" y="1681571"/>
                  <a:pt x="219607" y="1695786"/>
                </a:cubicBezTo>
                <a:cubicBezTo>
                  <a:pt x="205392" y="1710000"/>
                  <a:pt x="186113" y="1717986"/>
                  <a:pt x="166010" y="1717986"/>
                </a:cubicBezTo>
                <a:lnTo>
                  <a:pt x="90212" y="1717986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6" name="Freeform 216"/>
          <p:cNvSpPr/>
          <p:nvPr/>
        </p:nvSpPr>
        <p:spPr>
          <a:xfrm>
            <a:off x="8588323" y="4670566"/>
            <a:ext cx="197971" cy="1717986"/>
          </a:xfrm>
          <a:custGeom>
            <a:avLst/>
            <a:gdLst/>
            <a:ahLst/>
            <a:cxnLst/>
            <a:rect l="l" t="t" r="r" b="b"/>
            <a:pathLst>
              <a:path w="197971" h="1717986">
                <a:moveTo>
                  <a:pt x="197971" y="45052"/>
                </a:moveTo>
                <a:lnTo>
                  <a:pt x="197971" y="22526"/>
                </a:lnTo>
                <a:cubicBezTo>
                  <a:pt x="197971" y="10086"/>
                  <a:pt x="187886" y="0"/>
                  <a:pt x="175445" y="0"/>
                </a:cubicBezTo>
                <a:lnTo>
                  <a:pt x="98985" y="0"/>
                </a:lnTo>
                <a:cubicBezTo>
                  <a:pt x="44318" y="0"/>
                  <a:pt x="0" y="44318"/>
                  <a:pt x="0" y="98986"/>
                </a:cubicBezTo>
                <a:lnTo>
                  <a:pt x="0" y="1665624"/>
                </a:lnTo>
                <a:cubicBezTo>
                  <a:pt x="0" y="1694543"/>
                  <a:pt x="23444" y="1717987"/>
                  <a:pt x="52363" y="1717987"/>
                </a:cubicBezTo>
                <a:lnTo>
                  <a:pt x="104725" y="1717987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7" name="Freeform 217"/>
          <p:cNvSpPr/>
          <p:nvPr/>
        </p:nvSpPr>
        <p:spPr>
          <a:xfrm>
            <a:off x="17003206" y="4698193"/>
            <a:ext cx="241807" cy="1717986"/>
          </a:xfrm>
          <a:custGeom>
            <a:avLst/>
            <a:gdLst/>
            <a:ahLst/>
            <a:cxnLst/>
            <a:rect l="l" t="t" r="r" b="b"/>
            <a:pathLst>
              <a:path w="241807" h="1717986">
                <a:moveTo>
                  <a:pt x="0" y="0"/>
                </a:moveTo>
                <a:lnTo>
                  <a:pt x="120904" y="0"/>
                </a:lnTo>
                <a:cubicBezTo>
                  <a:pt x="187676" y="0"/>
                  <a:pt x="241806" y="54130"/>
                  <a:pt x="241806" y="120903"/>
                </a:cubicBezTo>
                <a:lnTo>
                  <a:pt x="241806" y="1642188"/>
                </a:lnTo>
                <a:cubicBezTo>
                  <a:pt x="241806" y="1662291"/>
                  <a:pt x="233821" y="1681570"/>
                  <a:pt x="219606" y="1695785"/>
                </a:cubicBezTo>
                <a:cubicBezTo>
                  <a:pt x="205392" y="1710000"/>
                  <a:pt x="186112" y="1717986"/>
                  <a:pt x="166010" y="1717986"/>
                </a:cubicBezTo>
                <a:lnTo>
                  <a:pt x="90211" y="1717986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18" name="TextBox 218"/>
          <p:cNvSpPr txBox="1"/>
          <p:nvPr/>
        </p:nvSpPr>
        <p:spPr>
          <a:xfrm>
            <a:off x="4367854" y="3875462"/>
            <a:ext cx="1369695" cy="296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sz="1773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ENCODER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12178820" y="6988981"/>
            <a:ext cx="1353362" cy="296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sz="1773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DECODER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1294307" y="5168017"/>
            <a:ext cx="547951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h₀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2970081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4234922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5471683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h₃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6737152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8099071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h₅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9465551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h₆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0812022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h₇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2083243" y="5159592"/>
            <a:ext cx="265867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h₈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13336471" y="5159592"/>
            <a:ext cx="332966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h₉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14569581" y="5159592"/>
            <a:ext cx="367829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h₁₀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15870657" y="5219050"/>
            <a:ext cx="367829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h₁₁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6237271" y="3980844"/>
            <a:ext cx="82748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&lt;End&gt;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8525520" y="6979456"/>
            <a:ext cx="906940" cy="31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1867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&lt;Start&gt;</a:t>
            </a:r>
          </a:p>
        </p:txBody>
      </p:sp>
      <p:grpSp>
        <p:nvGrpSpPr>
          <p:cNvPr id="234" name="Group 234"/>
          <p:cNvGrpSpPr/>
          <p:nvPr/>
        </p:nvGrpSpPr>
        <p:grpSpPr>
          <a:xfrm>
            <a:off x="16476819" y="4840073"/>
            <a:ext cx="355756" cy="1402605"/>
            <a:chOff x="0" y="0"/>
            <a:chExt cx="248113" cy="978213"/>
          </a:xfrm>
        </p:grpSpPr>
        <p:sp>
          <p:nvSpPr>
            <p:cNvPr id="235" name="Freeform 235"/>
            <p:cNvSpPr/>
            <p:nvPr/>
          </p:nvSpPr>
          <p:spPr>
            <a:xfrm>
              <a:off x="0" y="0"/>
              <a:ext cx="248113" cy="978213"/>
            </a:xfrm>
            <a:custGeom>
              <a:avLst/>
              <a:gdLst/>
              <a:ahLst/>
              <a:cxnLst/>
              <a:rect l="l" t="t" r="r" b="b"/>
              <a:pathLst>
                <a:path w="248113" h="978213">
                  <a:moveTo>
                    <a:pt x="0" y="0"/>
                  </a:moveTo>
                  <a:lnTo>
                    <a:pt x="248113" y="0"/>
                  </a:lnTo>
                  <a:lnTo>
                    <a:pt x="248113" y="978213"/>
                  </a:lnTo>
                  <a:lnTo>
                    <a:pt x="0" y="978213"/>
                  </a:lnTo>
                  <a:close/>
                </a:path>
              </a:pathLst>
            </a:custGeom>
            <a:solidFill>
              <a:srgbClr val="83B0D9"/>
            </a:solidFill>
          </p:spPr>
        </p:sp>
        <p:sp>
          <p:nvSpPr>
            <p:cNvPr id="236" name="TextBox 236"/>
            <p:cNvSpPr txBox="1"/>
            <p:nvPr/>
          </p:nvSpPr>
          <p:spPr>
            <a:xfrm>
              <a:off x="0" y="-38100"/>
              <a:ext cx="248113" cy="1016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7" name="Group 237"/>
          <p:cNvGrpSpPr/>
          <p:nvPr/>
        </p:nvGrpSpPr>
        <p:grpSpPr>
          <a:xfrm>
            <a:off x="16476819" y="4840073"/>
            <a:ext cx="348389" cy="348389"/>
            <a:chOff x="0" y="0"/>
            <a:chExt cx="812800" cy="812800"/>
          </a:xfrm>
        </p:grpSpPr>
        <p:sp>
          <p:nvSpPr>
            <p:cNvPr id="238" name="Freeform 2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39" name="TextBox 2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0" name="Group 240"/>
          <p:cNvGrpSpPr/>
          <p:nvPr/>
        </p:nvGrpSpPr>
        <p:grpSpPr>
          <a:xfrm>
            <a:off x="16476819" y="5188462"/>
            <a:ext cx="348389" cy="348389"/>
            <a:chOff x="0" y="0"/>
            <a:chExt cx="812800" cy="812800"/>
          </a:xfrm>
        </p:grpSpPr>
        <p:sp>
          <p:nvSpPr>
            <p:cNvPr id="241" name="Freeform 2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42" name="TextBox 2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3" name="Group 243"/>
          <p:cNvGrpSpPr/>
          <p:nvPr/>
        </p:nvGrpSpPr>
        <p:grpSpPr>
          <a:xfrm>
            <a:off x="16476819" y="5536850"/>
            <a:ext cx="348389" cy="348389"/>
            <a:chOff x="0" y="0"/>
            <a:chExt cx="812800" cy="812800"/>
          </a:xfrm>
        </p:grpSpPr>
        <p:sp>
          <p:nvSpPr>
            <p:cNvPr id="244" name="Freeform 2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45" name="TextBox 2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6" name="Group 246"/>
          <p:cNvGrpSpPr/>
          <p:nvPr/>
        </p:nvGrpSpPr>
        <p:grpSpPr>
          <a:xfrm>
            <a:off x="16476819" y="5885239"/>
            <a:ext cx="348389" cy="348389"/>
            <a:chOff x="0" y="0"/>
            <a:chExt cx="812800" cy="812800"/>
          </a:xfrm>
        </p:grpSpPr>
        <p:sp>
          <p:nvSpPr>
            <p:cNvPr id="247" name="Freeform 2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71BB"/>
            </a:solidFill>
          </p:spPr>
        </p:sp>
        <p:sp>
          <p:nvSpPr>
            <p:cNvPr id="248" name="TextBox 2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9" name="Freeform 249"/>
          <p:cNvSpPr/>
          <p:nvPr/>
        </p:nvSpPr>
        <p:spPr>
          <a:xfrm rot="-5400000">
            <a:off x="16433912" y="4474522"/>
            <a:ext cx="434203" cy="121577"/>
          </a:xfrm>
          <a:custGeom>
            <a:avLst/>
            <a:gdLst/>
            <a:ahLst/>
            <a:cxnLst/>
            <a:rect l="l" t="t" r="r" b="b"/>
            <a:pathLst>
              <a:path w="434203" h="121577">
                <a:moveTo>
                  <a:pt x="0" y="0"/>
                </a:moveTo>
                <a:lnTo>
                  <a:pt x="434203" y="0"/>
                </a:lnTo>
                <a:lnTo>
                  <a:pt x="434203" y="121576"/>
                </a:lnTo>
                <a:lnTo>
                  <a:pt x="0" y="121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0" name="Freeform 250"/>
          <p:cNvSpPr/>
          <p:nvPr/>
        </p:nvSpPr>
        <p:spPr>
          <a:xfrm>
            <a:off x="9045389" y="4661005"/>
            <a:ext cx="1226115" cy="2075510"/>
          </a:xfrm>
          <a:custGeom>
            <a:avLst/>
            <a:gdLst/>
            <a:ahLst/>
            <a:cxnLst/>
            <a:rect l="l" t="t" r="r" b="b"/>
            <a:pathLst>
              <a:path w="1226115" h="2075510">
                <a:moveTo>
                  <a:pt x="0" y="0"/>
                </a:moveTo>
                <a:lnTo>
                  <a:pt x="0" y="26109"/>
                </a:lnTo>
                <a:cubicBezTo>
                  <a:pt x="0" y="33033"/>
                  <a:pt x="2751" y="39674"/>
                  <a:pt x="7647" y="44570"/>
                </a:cubicBezTo>
                <a:cubicBezTo>
                  <a:pt x="12543" y="49467"/>
                  <a:pt x="19184" y="52217"/>
                  <a:pt x="26108" y="52217"/>
                </a:cubicBezTo>
                <a:lnTo>
                  <a:pt x="543689" y="52217"/>
                </a:lnTo>
                <a:cubicBezTo>
                  <a:pt x="596740" y="52217"/>
                  <a:pt x="647616" y="73291"/>
                  <a:pt x="685129" y="110803"/>
                </a:cubicBezTo>
                <a:cubicBezTo>
                  <a:pt x="722640" y="148315"/>
                  <a:pt x="743714" y="199193"/>
                  <a:pt x="743714" y="252242"/>
                </a:cubicBezTo>
                <a:lnTo>
                  <a:pt x="743714" y="1875485"/>
                </a:lnTo>
                <a:cubicBezTo>
                  <a:pt x="743714" y="1928535"/>
                  <a:pt x="764788" y="1979412"/>
                  <a:pt x="802301" y="2016924"/>
                </a:cubicBezTo>
                <a:cubicBezTo>
                  <a:pt x="839812" y="2054436"/>
                  <a:pt x="890689" y="2075510"/>
                  <a:pt x="943739" y="2075510"/>
                </a:cubicBezTo>
                <a:lnTo>
                  <a:pt x="1058804" y="2075510"/>
                </a:lnTo>
                <a:cubicBezTo>
                  <a:pt x="1151207" y="2075510"/>
                  <a:pt x="1226115" y="2000602"/>
                  <a:pt x="1226115" y="1908199"/>
                </a:cubicBezTo>
                <a:lnTo>
                  <a:pt x="1226115" y="1740886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1" name="Freeform 251"/>
          <p:cNvSpPr/>
          <p:nvPr/>
        </p:nvSpPr>
        <p:spPr>
          <a:xfrm>
            <a:off x="10231002" y="4590443"/>
            <a:ext cx="1353362" cy="2075510"/>
          </a:xfrm>
          <a:custGeom>
            <a:avLst/>
            <a:gdLst/>
            <a:ahLst/>
            <a:cxnLst/>
            <a:rect l="l" t="t" r="r" b="b"/>
            <a:pathLst>
              <a:path w="1353362" h="2075510">
                <a:moveTo>
                  <a:pt x="0" y="0"/>
                </a:moveTo>
                <a:lnTo>
                  <a:pt x="0" y="26109"/>
                </a:lnTo>
                <a:cubicBezTo>
                  <a:pt x="0" y="33033"/>
                  <a:pt x="2751" y="39674"/>
                  <a:pt x="7647" y="44570"/>
                </a:cubicBezTo>
                <a:cubicBezTo>
                  <a:pt x="12543" y="49467"/>
                  <a:pt x="19184" y="52217"/>
                  <a:pt x="26109" y="52217"/>
                </a:cubicBezTo>
                <a:lnTo>
                  <a:pt x="670936" y="52217"/>
                </a:lnTo>
                <a:cubicBezTo>
                  <a:pt x="723987" y="52217"/>
                  <a:pt x="774863" y="73291"/>
                  <a:pt x="812375" y="110803"/>
                </a:cubicBezTo>
                <a:cubicBezTo>
                  <a:pt x="849888" y="148315"/>
                  <a:pt x="870961" y="199193"/>
                  <a:pt x="870961" y="252242"/>
                </a:cubicBezTo>
                <a:lnTo>
                  <a:pt x="870961" y="1875485"/>
                </a:lnTo>
                <a:cubicBezTo>
                  <a:pt x="870961" y="1928535"/>
                  <a:pt x="892035" y="1979412"/>
                  <a:pt x="929548" y="2016923"/>
                </a:cubicBezTo>
                <a:cubicBezTo>
                  <a:pt x="967059" y="2054436"/>
                  <a:pt x="1017936" y="2075510"/>
                  <a:pt x="1070986" y="2075510"/>
                </a:cubicBezTo>
                <a:lnTo>
                  <a:pt x="1186051" y="2075510"/>
                </a:lnTo>
                <a:cubicBezTo>
                  <a:pt x="1230424" y="2075510"/>
                  <a:pt x="1272980" y="2057882"/>
                  <a:pt x="1304357" y="2026505"/>
                </a:cubicBezTo>
                <a:cubicBezTo>
                  <a:pt x="1335735" y="1995128"/>
                  <a:pt x="1353362" y="1952572"/>
                  <a:pt x="1353362" y="1908198"/>
                </a:cubicBezTo>
                <a:lnTo>
                  <a:pt x="1353362" y="1740886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2" name="Freeform 252"/>
          <p:cNvSpPr/>
          <p:nvPr/>
        </p:nvSpPr>
        <p:spPr>
          <a:xfrm>
            <a:off x="11539496" y="4611046"/>
            <a:ext cx="1353362" cy="2075511"/>
          </a:xfrm>
          <a:custGeom>
            <a:avLst/>
            <a:gdLst/>
            <a:ahLst/>
            <a:cxnLst/>
            <a:rect l="l" t="t" r="r" b="b"/>
            <a:pathLst>
              <a:path w="1353362" h="2075511">
                <a:moveTo>
                  <a:pt x="0" y="0"/>
                </a:moveTo>
                <a:lnTo>
                  <a:pt x="0" y="26109"/>
                </a:lnTo>
                <a:cubicBezTo>
                  <a:pt x="0" y="40528"/>
                  <a:pt x="11689" y="52217"/>
                  <a:pt x="26109" y="52217"/>
                </a:cubicBezTo>
                <a:lnTo>
                  <a:pt x="670936" y="52217"/>
                </a:lnTo>
                <a:cubicBezTo>
                  <a:pt x="781407" y="52217"/>
                  <a:pt x="870961" y="141772"/>
                  <a:pt x="870961" y="252242"/>
                </a:cubicBezTo>
                <a:lnTo>
                  <a:pt x="870961" y="1875485"/>
                </a:lnTo>
                <a:cubicBezTo>
                  <a:pt x="870961" y="1985956"/>
                  <a:pt x="960515" y="2075510"/>
                  <a:pt x="1070986" y="2075510"/>
                </a:cubicBezTo>
                <a:lnTo>
                  <a:pt x="1186050" y="2075510"/>
                </a:lnTo>
                <a:cubicBezTo>
                  <a:pt x="1230424" y="2075510"/>
                  <a:pt x="1272980" y="2057883"/>
                  <a:pt x="1304357" y="2026505"/>
                </a:cubicBezTo>
                <a:cubicBezTo>
                  <a:pt x="1335734" y="1995128"/>
                  <a:pt x="1353362" y="1952572"/>
                  <a:pt x="1353362" y="1908198"/>
                </a:cubicBezTo>
                <a:lnTo>
                  <a:pt x="1353362" y="1740886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3" name="Freeform 253"/>
          <p:cNvSpPr/>
          <p:nvPr/>
        </p:nvSpPr>
        <p:spPr>
          <a:xfrm>
            <a:off x="12869809" y="4542165"/>
            <a:ext cx="1353362" cy="2075510"/>
          </a:xfrm>
          <a:custGeom>
            <a:avLst/>
            <a:gdLst/>
            <a:ahLst/>
            <a:cxnLst/>
            <a:rect l="l" t="t" r="r" b="b"/>
            <a:pathLst>
              <a:path w="1353362" h="2075510">
                <a:moveTo>
                  <a:pt x="0" y="0"/>
                </a:moveTo>
                <a:lnTo>
                  <a:pt x="0" y="26109"/>
                </a:lnTo>
                <a:cubicBezTo>
                  <a:pt x="0" y="40529"/>
                  <a:pt x="11689" y="52218"/>
                  <a:pt x="26109" y="52218"/>
                </a:cubicBezTo>
                <a:lnTo>
                  <a:pt x="670937" y="52218"/>
                </a:lnTo>
                <a:cubicBezTo>
                  <a:pt x="781407" y="52218"/>
                  <a:pt x="870962" y="141772"/>
                  <a:pt x="870962" y="252243"/>
                </a:cubicBezTo>
                <a:lnTo>
                  <a:pt x="870962" y="1875485"/>
                </a:lnTo>
                <a:cubicBezTo>
                  <a:pt x="870962" y="1928535"/>
                  <a:pt x="892036" y="1979412"/>
                  <a:pt x="929547" y="2016925"/>
                </a:cubicBezTo>
                <a:cubicBezTo>
                  <a:pt x="967060" y="2054436"/>
                  <a:pt x="1017937" y="2075510"/>
                  <a:pt x="1070987" y="2075510"/>
                </a:cubicBezTo>
                <a:lnTo>
                  <a:pt x="1186049" y="2075510"/>
                </a:lnTo>
                <a:cubicBezTo>
                  <a:pt x="1278453" y="2075510"/>
                  <a:pt x="1353362" y="2000602"/>
                  <a:pt x="1353362" y="1908198"/>
                </a:cubicBezTo>
                <a:lnTo>
                  <a:pt x="1353362" y="1740886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4" name="Freeform 254"/>
          <p:cNvSpPr/>
          <p:nvPr/>
        </p:nvSpPr>
        <p:spPr>
          <a:xfrm>
            <a:off x="14108909" y="4542165"/>
            <a:ext cx="1353362" cy="2075510"/>
          </a:xfrm>
          <a:custGeom>
            <a:avLst/>
            <a:gdLst/>
            <a:ahLst/>
            <a:cxnLst/>
            <a:rect l="l" t="t" r="r" b="b"/>
            <a:pathLst>
              <a:path w="1353362" h="2075510">
                <a:moveTo>
                  <a:pt x="0" y="0"/>
                </a:moveTo>
                <a:lnTo>
                  <a:pt x="0" y="26109"/>
                </a:lnTo>
                <a:cubicBezTo>
                  <a:pt x="0" y="40529"/>
                  <a:pt x="11690" y="52218"/>
                  <a:pt x="26109" y="52218"/>
                </a:cubicBezTo>
                <a:lnTo>
                  <a:pt x="670936" y="52218"/>
                </a:lnTo>
                <a:cubicBezTo>
                  <a:pt x="781407" y="52218"/>
                  <a:pt x="870961" y="141772"/>
                  <a:pt x="870961" y="252243"/>
                </a:cubicBezTo>
                <a:lnTo>
                  <a:pt x="870961" y="1875485"/>
                </a:lnTo>
                <a:cubicBezTo>
                  <a:pt x="870961" y="1985956"/>
                  <a:pt x="960515" y="2075510"/>
                  <a:pt x="1070986" y="2075510"/>
                </a:cubicBezTo>
                <a:lnTo>
                  <a:pt x="1186050" y="2075510"/>
                </a:lnTo>
                <a:cubicBezTo>
                  <a:pt x="1278454" y="2075510"/>
                  <a:pt x="1353363" y="2000602"/>
                  <a:pt x="1353363" y="1908198"/>
                </a:cubicBezTo>
                <a:lnTo>
                  <a:pt x="1353363" y="1740886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5" name="Freeform 255"/>
          <p:cNvSpPr/>
          <p:nvPr/>
        </p:nvSpPr>
        <p:spPr>
          <a:xfrm>
            <a:off x="15448331" y="4499440"/>
            <a:ext cx="1206365" cy="2075511"/>
          </a:xfrm>
          <a:custGeom>
            <a:avLst/>
            <a:gdLst/>
            <a:ahLst/>
            <a:cxnLst/>
            <a:rect l="l" t="t" r="r" b="b"/>
            <a:pathLst>
              <a:path w="1206365" h="2075511">
                <a:moveTo>
                  <a:pt x="0" y="0"/>
                </a:moveTo>
                <a:lnTo>
                  <a:pt x="0" y="26109"/>
                </a:lnTo>
                <a:cubicBezTo>
                  <a:pt x="0" y="33033"/>
                  <a:pt x="2751" y="39674"/>
                  <a:pt x="7648" y="44570"/>
                </a:cubicBezTo>
                <a:cubicBezTo>
                  <a:pt x="12544" y="49467"/>
                  <a:pt x="19185" y="52217"/>
                  <a:pt x="26109" y="52217"/>
                </a:cubicBezTo>
                <a:lnTo>
                  <a:pt x="670936" y="52217"/>
                </a:lnTo>
                <a:cubicBezTo>
                  <a:pt x="723986" y="52217"/>
                  <a:pt x="774863" y="73291"/>
                  <a:pt x="812376" y="110803"/>
                </a:cubicBezTo>
                <a:cubicBezTo>
                  <a:pt x="849888" y="148315"/>
                  <a:pt x="870961" y="199193"/>
                  <a:pt x="870961" y="252242"/>
                </a:cubicBezTo>
                <a:lnTo>
                  <a:pt x="870961" y="1907808"/>
                </a:lnTo>
                <a:cubicBezTo>
                  <a:pt x="870961" y="2000428"/>
                  <a:pt x="946043" y="2075511"/>
                  <a:pt x="1038664" y="2075511"/>
                </a:cubicBezTo>
                <a:lnTo>
                  <a:pt x="1113167" y="2075511"/>
                </a:lnTo>
                <a:cubicBezTo>
                  <a:pt x="1164639" y="2075511"/>
                  <a:pt x="1206366" y="2033784"/>
                  <a:pt x="1206366" y="1982312"/>
                </a:cubicBezTo>
                <a:lnTo>
                  <a:pt x="1206366" y="1889113"/>
                </a:lnTo>
              </a:path>
            </a:pathLst>
          </a:custGeom>
          <a:ln w="28575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6" name="Freeform 256"/>
          <p:cNvSpPr/>
          <p:nvPr/>
        </p:nvSpPr>
        <p:spPr>
          <a:xfrm rot="-5400000">
            <a:off x="8860743" y="6500846"/>
            <a:ext cx="369292" cy="103402"/>
          </a:xfrm>
          <a:custGeom>
            <a:avLst/>
            <a:gdLst/>
            <a:ahLst/>
            <a:cxnLst/>
            <a:rect l="l" t="t" r="r" b="b"/>
            <a:pathLst>
              <a:path w="369292" h="103402">
                <a:moveTo>
                  <a:pt x="0" y="0"/>
                </a:moveTo>
                <a:lnTo>
                  <a:pt x="369291" y="0"/>
                </a:lnTo>
                <a:lnTo>
                  <a:pt x="369291" y="103402"/>
                </a:lnTo>
                <a:lnTo>
                  <a:pt x="0" y="10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57" name="Group 257"/>
          <p:cNvGrpSpPr/>
          <p:nvPr/>
        </p:nvGrpSpPr>
        <p:grpSpPr>
          <a:xfrm>
            <a:off x="406012" y="2143273"/>
            <a:ext cx="17662134" cy="7832320"/>
            <a:chOff x="0" y="0"/>
            <a:chExt cx="4651755" cy="2062833"/>
          </a:xfrm>
        </p:grpSpPr>
        <p:sp>
          <p:nvSpPr>
            <p:cNvPr id="258" name="Freeform 258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59" name="TextBox 259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095" y="4680918"/>
            <a:ext cx="4295228" cy="3972277"/>
            <a:chOff x="0" y="0"/>
            <a:chExt cx="1137923" cy="10523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7923" cy="1052364"/>
            </a:xfrm>
            <a:custGeom>
              <a:avLst/>
              <a:gdLst/>
              <a:ahLst/>
              <a:cxnLst/>
              <a:rect l="l" t="t" r="r" b="b"/>
              <a:pathLst>
                <a:path w="1137923" h="1052364">
                  <a:moveTo>
                    <a:pt x="0" y="0"/>
                  </a:moveTo>
                  <a:lnTo>
                    <a:pt x="1137923" y="0"/>
                  </a:lnTo>
                  <a:lnTo>
                    <a:pt x="1137923" y="1052364"/>
                  </a:lnTo>
                  <a:lnTo>
                    <a:pt x="0" y="105236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76200" cap="sq">
              <a:solidFill>
                <a:srgbClr val="000000">
                  <a:alpha val="8078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37923" cy="109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83435" y="7055517"/>
            <a:ext cx="1066632" cy="824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Freeform 9"/>
          <p:cNvSpPr/>
          <p:nvPr/>
        </p:nvSpPr>
        <p:spPr>
          <a:xfrm>
            <a:off x="1749943" y="6817939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1" y="0"/>
                </a:lnTo>
                <a:lnTo>
                  <a:pt x="492391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787300" y="6806329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2237390" y="7043907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AutoShape 12"/>
          <p:cNvSpPr/>
          <p:nvPr/>
        </p:nvSpPr>
        <p:spPr>
          <a:xfrm flipV="1">
            <a:off x="3036489" y="7293096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2790294" y="7854615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0" y="0"/>
                </a:lnTo>
                <a:lnTo>
                  <a:pt x="492390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V="1">
            <a:off x="3049463" y="8329772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" name="Freeform 15"/>
          <p:cNvSpPr/>
          <p:nvPr/>
        </p:nvSpPr>
        <p:spPr>
          <a:xfrm>
            <a:off x="3807355" y="6781655"/>
            <a:ext cx="524504" cy="524504"/>
          </a:xfrm>
          <a:custGeom>
            <a:avLst/>
            <a:gdLst/>
            <a:ahLst/>
            <a:cxnLst/>
            <a:rect l="l" t="t" r="r" b="b"/>
            <a:pathLst>
              <a:path w="524504" h="524504">
                <a:moveTo>
                  <a:pt x="0" y="0"/>
                </a:moveTo>
                <a:lnTo>
                  <a:pt x="524505" y="0"/>
                </a:lnTo>
                <a:lnTo>
                  <a:pt x="524505" y="524504"/>
                </a:lnTo>
                <a:lnTo>
                  <a:pt x="0" y="524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3282684" y="7030933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Freeform 17"/>
          <p:cNvSpPr/>
          <p:nvPr/>
        </p:nvSpPr>
        <p:spPr>
          <a:xfrm>
            <a:off x="3839469" y="5957621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1" y="0"/>
                </a:lnTo>
                <a:lnTo>
                  <a:pt x="492391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848086" y="4994515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4098638" y="6432778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AutoShape 20"/>
          <p:cNvSpPr/>
          <p:nvPr/>
        </p:nvSpPr>
        <p:spPr>
          <a:xfrm flipV="1">
            <a:off x="4098638" y="5469672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AutoShape 21"/>
          <p:cNvSpPr/>
          <p:nvPr/>
        </p:nvSpPr>
        <p:spPr>
          <a:xfrm flipV="1">
            <a:off x="4350908" y="7030933"/>
            <a:ext cx="1669495" cy="213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AutoShape 22"/>
          <p:cNvSpPr/>
          <p:nvPr/>
        </p:nvSpPr>
        <p:spPr>
          <a:xfrm flipV="1">
            <a:off x="4099868" y="4405963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3" name="Freeform 23"/>
          <p:cNvSpPr/>
          <p:nvPr/>
        </p:nvSpPr>
        <p:spPr>
          <a:xfrm>
            <a:off x="3875570" y="3892749"/>
            <a:ext cx="475338" cy="475338"/>
          </a:xfrm>
          <a:custGeom>
            <a:avLst/>
            <a:gdLst/>
            <a:ahLst/>
            <a:cxnLst/>
            <a:rect l="l" t="t" r="r" b="b"/>
            <a:pathLst>
              <a:path w="475338" h="475338">
                <a:moveTo>
                  <a:pt x="0" y="0"/>
                </a:moveTo>
                <a:lnTo>
                  <a:pt x="475338" y="0"/>
                </a:lnTo>
                <a:lnTo>
                  <a:pt x="475338" y="475338"/>
                </a:lnTo>
                <a:lnTo>
                  <a:pt x="0" y="475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 flipV="1">
            <a:off x="4127443" y="3304962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 flipV="1">
            <a:off x="1981935" y="7306159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 flipH="1">
            <a:off x="3298176" y="8115143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AutoShape 27"/>
          <p:cNvSpPr/>
          <p:nvPr/>
        </p:nvSpPr>
        <p:spPr>
          <a:xfrm>
            <a:off x="3040524" y="6191927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TextBox 28"/>
          <p:cNvSpPr txBox="1"/>
          <p:nvPr/>
        </p:nvSpPr>
        <p:spPr>
          <a:xfrm>
            <a:off x="4709833" y="595871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</a:t>
            </a:r>
          </a:p>
        </p:txBody>
      </p:sp>
      <p:sp>
        <p:nvSpPr>
          <p:cNvPr id="29" name="AutoShape 29"/>
          <p:cNvSpPr/>
          <p:nvPr/>
        </p:nvSpPr>
        <p:spPr>
          <a:xfrm flipH="1" flipV="1">
            <a:off x="4350908" y="6221418"/>
            <a:ext cx="368450" cy="749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TextBox 30"/>
          <p:cNvSpPr txBox="1"/>
          <p:nvPr/>
        </p:nvSpPr>
        <p:spPr>
          <a:xfrm>
            <a:off x="4770504" y="4946343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bᵧ</a:t>
            </a:r>
          </a:p>
        </p:txBody>
      </p:sp>
      <p:sp>
        <p:nvSpPr>
          <p:cNvPr id="31" name="AutoShape 31"/>
          <p:cNvSpPr/>
          <p:nvPr/>
        </p:nvSpPr>
        <p:spPr>
          <a:xfrm flipH="1">
            <a:off x="4350908" y="5228889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AutoShape 32"/>
          <p:cNvSpPr/>
          <p:nvPr/>
        </p:nvSpPr>
        <p:spPr>
          <a:xfrm flipV="1">
            <a:off x="9456699" y="3284734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3" name="TextBox 33"/>
          <p:cNvSpPr txBox="1"/>
          <p:nvPr/>
        </p:nvSpPr>
        <p:spPr>
          <a:xfrm>
            <a:off x="2845261" y="8814510"/>
            <a:ext cx="3905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59192" y="2657262"/>
            <a:ext cx="39171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20447" y="782054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68078" y="569278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58111" y="8814510"/>
            <a:ext cx="3905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95708" y="6491680"/>
            <a:ext cx="42713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57503" y="2665583"/>
            <a:ext cx="49954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y₂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51888" y="6971551"/>
            <a:ext cx="251471" cy="32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1888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....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5345889" y="3875258"/>
            <a:ext cx="475338" cy="475338"/>
          </a:xfrm>
          <a:custGeom>
            <a:avLst/>
            <a:gdLst/>
            <a:ahLst/>
            <a:cxnLst/>
            <a:rect l="l" t="t" r="r" b="b"/>
            <a:pathLst>
              <a:path w="475338" h="475338">
                <a:moveTo>
                  <a:pt x="0" y="0"/>
                </a:moveTo>
                <a:lnTo>
                  <a:pt x="475338" y="0"/>
                </a:lnTo>
                <a:lnTo>
                  <a:pt x="475338" y="475337"/>
                </a:lnTo>
                <a:lnTo>
                  <a:pt x="0" y="475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AutoShape 42"/>
          <p:cNvSpPr/>
          <p:nvPr/>
        </p:nvSpPr>
        <p:spPr>
          <a:xfrm flipV="1">
            <a:off x="15597762" y="3287471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TextBox 43"/>
          <p:cNvSpPr txBox="1"/>
          <p:nvPr/>
        </p:nvSpPr>
        <p:spPr>
          <a:xfrm>
            <a:off x="14362838" y="8814510"/>
            <a:ext cx="3341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951000" y="6482702"/>
            <a:ext cx="67136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hₜ₋₁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441633" y="2634394"/>
            <a:ext cx="33531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223296" y="6482702"/>
            <a:ext cx="3707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876943" y="7830034"/>
            <a:ext cx="779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5212" y="6482702"/>
            <a:ext cx="53496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h₀ 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628130" y="4663427"/>
            <a:ext cx="4295228" cy="3972277"/>
            <a:chOff x="0" y="0"/>
            <a:chExt cx="1137923" cy="10523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7923" cy="1052364"/>
            </a:xfrm>
            <a:custGeom>
              <a:avLst/>
              <a:gdLst/>
              <a:ahLst/>
              <a:cxnLst/>
              <a:rect l="l" t="t" r="r" b="b"/>
              <a:pathLst>
                <a:path w="1137923" h="1052364">
                  <a:moveTo>
                    <a:pt x="0" y="0"/>
                  </a:moveTo>
                  <a:lnTo>
                    <a:pt x="1137923" y="0"/>
                  </a:lnTo>
                  <a:lnTo>
                    <a:pt x="1137923" y="1052364"/>
                  </a:lnTo>
                  <a:lnTo>
                    <a:pt x="0" y="105236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76200" cap="sq">
              <a:solidFill>
                <a:srgbClr val="000000">
                  <a:alpha val="80784"/>
                </a:srgbClr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137923" cy="109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AutoShape 52"/>
          <p:cNvSpPr/>
          <p:nvPr/>
        </p:nvSpPr>
        <p:spPr>
          <a:xfrm>
            <a:off x="6054470" y="7038026"/>
            <a:ext cx="1066632" cy="824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3" name="Freeform 53"/>
          <p:cNvSpPr/>
          <p:nvPr/>
        </p:nvSpPr>
        <p:spPr>
          <a:xfrm>
            <a:off x="7120978" y="6800447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1" y="0"/>
                </a:lnTo>
                <a:lnTo>
                  <a:pt x="492391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8158335" y="6788837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5" name="AutoShape 55"/>
          <p:cNvSpPr/>
          <p:nvPr/>
        </p:nvSpPr>
        <p:spPr>
          <a:xfrm>
            <a:off x="7608425" y="7026416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6" name="AutoShape 56"/>
          <p:cNvSpPr/>
          <p:nvPr/>
        </p:nvSpPr>
        <p:spPr>
          <a:xfrm flipV="1">
            <a:off x="8407524" y="7275604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7" name="Freeform 57"/>
          <p:cNvSpPr/>
          <p:nvPr/>
        </p:nvSpPr>
        <p:spPr>
          <a:xfrm>
            <a:off x="8161329" y="7837124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0" y="0"/>
                </a:lnTo>
                <a:lnTo>
                  <a:pt x="492390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8" name="AutoShape 58"/>
          <p:cNvSpPr/>
          <p:nvPr/>
        </p:nvSpPr>
        <p:spPr>
          <a:xfrm flipV="1">
            <a:off x="8420498" y="8312281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Freeform 59"/>
          <p:cNvSpPr/>
          <p:nvPr/>
        </p:nvSpPr>
        <p:spPr>
          <a:xfrm>
            <a:off x="9178390" y="6764164"/>
            <a:ext cx="524504" cy="524504"/>
          </a:xfrm>
          <a:custGeom>
            <a:avLst/>
            <a:gdLst/>
            <a:ahLst/>
            <a:cxnLst/>
            <a:rect l="l" t="t" r="r" b="b"/>
            <a:pathLst>
              <a:path w="524504" h="524504">
                <a:moveTo>
                  <a:pt x="0" y="0"/>
                </a:moveTo>
                <a:lnTo>
                  <a:pt x="524504" y="0"/>
                </a:lnTo>
                <a:lnTo>
                  <a:pt x="524504" y="524504"/>
                </a:lnTo>
                <a:lnTo>
                  <a:pt x="0" y="524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0" name="AutoShape 60"/>
          <p:cNvSpPr/>
          <p:nvPr/>
        </p:nvSpPr>
        <p:spPr>
          <a:xfrm>
            <a:off x="8653719" y="7013442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1" name="Freeform 61"/>
          <p:cNvSpPr/>
          <p:nvPr/>
        </p:nvSpPr>
        <p:spPr>
          <a:xfrm>
            <a:off x="9210504" y="5940130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0" y="0"/>
                </a:lnTo>
                <a:lnTo>
                  <a:pt x="492390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9219121" y="4977023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3" name="AutoShape 63"/>
          <p:cNvSpPr/>
          <p:nvPr/>
        </p:nvSpPr>
        <p:spPr>
          <a:xfrm flipV="1">
            <a:off x="9469673" y="6415287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4" name="AutoShape 64"/>
          <p:cNvSpPr/>
          <p:nvPr/>
        </p:nvSpPr>
        <p:spPr>
          <a:xfrm flipV="1">
            <a:off x="9469673" y="5452180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5" name="AutoShape 65"/>
          <p:cNvSpPr/>
          <p:nvPr/>
        </p:nvSpPr>
        <p:spPr>
          <a:xfrm>
            <a:off x="9721943" y="7015577"/>
            <a:ext cx="2181416" cy="206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6" name="AutoShape 66"/>
          <p:cNvSpPr/>
          <p:nvPr/>
        </p:nvSpPr>
        <p:spPr>
          <a:xfrm flipV="1">
            <a:off x="9470903" y="4388472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7" name="AutoShape 67"/>
          <p:cNvSpPr/>
          <p:nvPr/>
        </p:nvSpPr>
        <p:spPr>
          <a:xfrm flipV="1">
            <a:off x="7352970" y="7288668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8" name="AutoShape 68"/>
          <p:cNvSpPr/>
          <p:nvPr/>
        </p:nvSpPr>
        <p:spPr>
          <a:xfrm flipH="1">
            <a:off x="8669211" y="8097651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9" name="AutoShape 69"/>
          <p:cNvSpPr/>
          <p:nvPr/>
        </p:nvSpPr>
        <p:spPr>
          <a:xfrm>
            <a:off x="8411558" y="6174436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0" name="TextBox 70"/>
          <p:cNvSpPr txBox="1"/>
          <p:nvPr/>
        </p:nvSpPr>
        <p:spPr>
          <a:xfrm>
            <a:off x="10046101" y="595871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</a:t>
            </a:r>
          </a:p>
        </p:txBody>
      </p:sp>
      <p:sp>
        <p:nvSpPr>
          <p:cNvPr id="71" name="AutoShape 71"/>
          <p:cNvSpPr/>
          <p:nvPr/>
        </p:nvSpPr>
        <p:spPr>
          <a:xfrm flipH="1">
            <a:off x="9721943" y="6228913"/>
            <a:ext cx="3051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2" name="TextBox 72"/>
          <p:cNvSpPr txBox="1"/>
          <p:nvPr/>
        </p:nvSpPr>
        <p:spPr>
          <a:xfrm>
            <a:off x="10141539" y="4937365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bᵧ</a:t>
            </a:r>
          </a:p>
        </p:txBody>
      </p:sp>
      <p:sp>
        <p:nvSpPr>
          <p:cNvPr id="73" name="AutoShape 73"/>
          <p:cNvSpPr/>
          <p:nvPr/>
        </p:nvSpPr>
        <p:spPr>
          <a:xfrm flipH="1">
            <a:off x="9721943" y="5217806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4" name="TextBox 74"/>
          <p:cNvSpPr txBox="1"/>
          <p:nvPr/>
        </p:nvSpPr>
        <p:spPr>
          <a:xfrm>
            <a:off x="6962060" y="782054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Wₕₕ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016614" y="569278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bₕ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80456" y="7830034"/>
            <a:ext cx="779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</a:t>
            </a:r>
          </a:p>
        </p:txBody>
      </p:sp>
      <p:sp>
        <p:nvSpPr>
          <p:cNvPr id="77" name="Freeform 77"/>
          <p:cNvSpPr/>
          <p:nvPr/>
        </p:nvSpPr>
        <p:spPr>
          <a:xfrm>
            <a:off x="9247978" y="3875258"/>
            <a:ext cx="475338" cy="475338"/>
          </a:xfrm>
          <a:custGeom>
            <a:avLst/>
            <a:gdLst/>
            <a:ahLst/>
            <a:cxnLst/>
            <a:rect l="l" t="t" r="r" b="b"/>
            <a:pathLst>
              <a:path w="475338" h="475338">
                <a:moveTo>
                  <a:pt x="0" y="0"/>
                </a:moveTo>
                <a:lnTo>
                  <a:pt x="475337" y="0"/>
                </a:lnTo>
                <a:lnTo>
                  <a:pt x="475337" y="475337"/>
                </a:lnTo>
                <a:lnTo>
                  <a:pt x="0" y="475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8" name="Group 78"/>
          <p:cNvGrpSpPr/>
          <p:nvPr/>
        </p:nvGrpSpPr>
        <p:grpSpPr>
          <a:xfrm>
            <a:off x="12737568" y="4643042"/>
            <a:ext cx="4295228" cy="3972277"/>
            <a:chOff x="0" y="0"/>
            <a:chExt cx="1137923" cy="105236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137923" cy="1052364"/>
            </a:xfrm>
            <a:custGeom>
              <a:avLst/>
              <a:gdLst/>
              <a:ahLst/>
              <a:cxnLst/>
              <a:rect l="l" t="t" r="r" b="b"/>
              <a:pathLst>
                <a:path w="1137923" h="1052364">
                  <a:moveTo>
                    <a:pt x="0" y="0"/>
                  </a:moveTo>
                  <a:lnTo>
                    <a:pt x="1137923" y="0"/>
                  </a:lnTo>
                  <a:lnTo>
                    <a:pt x="1137923" y="1052364"/>
                  </a:lnTo>
                  <a:lnTo>
                    <a:pt x="0" y="105236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  <a:ln w="76200" cap="sq">
              <a:solidFill>
                <a:srgbClr val="000000">
                  <a:alpha val="80784"/>
                </a:srgbClr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137923" cy="109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1" name="AutoShape 81"/>
          <p:cNvSpPr/>
          <p:nvPr/>
        </p:nvSpPr>
        <p:spPr>
          <a:xfrm>
            <a:off x="12163907" y="7017640"/>
            <a:ext cx="1066632" cy="824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2" name="Freeform 82"/>
          <p:cNvSpPr/>
          <p:nvPr/>
        </p:nvSpPr>
        <p:spPr>
          <a:xfrm>
            <a:off x="13230416" y="6780062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0" y="0"/>
                </a:lnTo>
                <a:lnTo>
                  <a:pt x="492390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4267773" y="6768452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4" name="AutoShape 84"/>
          <p:cNvSpPr/>
          <p:nvPr/>
        </p:nvSpPr>
        <p:spPr>
          <a:xfrm>
            <a:off x="13717863" y="7006030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5" name="AutoShape 85"/>
          <p:cNvSpPr/>
          <p:nvPr/>
        </p:nvSpPr>
        <p:spPr>
          <a:xfrm flipV="1">
            <a:off x="14516961" y="7255219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6" name="Freeform 86"/>
          <p:cNvSpPr/>
          <p:nvPr/>
        </p:nvSpPr>
        <p:spPr>
          <a:xfrm>
            <a:off x="14270766" y="7816739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1" y="0"/>
                </a:lnTo>
                <a:lnTo>
                  <a:pt x="492391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7" name="AutoShape 87"/>
          <p:cNvSpPr/>
          <p:nvPr/>
        </p:nvSpPr>
        <p:spPr>
          <a:xfrm flipV="1">
            <a:off x="14529935" y="8291896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8" name="Freeform 88"/>
          <p:cNvSpPr/>
          <p:nvPr/>
        </p:nvSpPr>
        <p:spPr>
          <a:xfrm>
            <a:off x="15287828" y="6743778"/>
            <a:ext cx="524504" cy="524504"/>
          </a:xfrm>
          <a:custGeom>
            <a:avLst/>
            <a:gdLst/>
            <a:ahLst/>
            <a:cxnLst/>
            <a:rect l="l" t="t" r="r" b="b"/>
            <a:pathLst>
              <a:path w="524504" h="524504">
                <a:moveTo>
                  <a:pt x="0" y="0"/>
                </a:moveTo>
                <a:lnTo>
                  <a:pt x="524504" y="0"/>
                </a:lnTo>
                <a:lnTo>
                  <a:pt x="524504" y="524505"/>
                </a:lnTo>
                <a:lnTo>
                  <a:pt x="0" y="524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9" name="AutoShape 89"/>
          <p:cNvSpPr/>
          <p:nvPr/>
        </p:nvSpPr>
        <p:spPr>
          <a:xfrm>
            <a:off x="14763157" y="6993057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0" name="Freeform 90"/>
          <p:cNvSpPr/>
          <p:nvPr/>
        </p:nvSpPr>
        <p:spPr>
          <a:xfrm>
            <a:off x="15319941" y="5919745"/>
            <a:ext cx="492391" cy="475157"/>
          </a:xfrm>
          <a:custGeom>
            <a:avLst/>
            <a:gdLst/>
            <a:ahLst/>
            <a:cxnLst/>
            <a:rect l="l" t="t" r="r" b="b"/>
            <a:pathLst>
              <a:path w="492391" h="475157">
                <a:moveTo>
                  <a:pt x="0" y="0"/>
                </a:moveTo>
                <a:lnTo>
                  <a:pt x="492391" y="0"/>
                </a:lnTo>
                <a:lnTo>
                  <a:pt x="492391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5328558" y="4956638"/>
            <a:ext cx="475157" cy="475157"/>
          </a:xfrm>
          <a:custGeom>
            <a:avLst/>
            <a:gdLst/>
            <a:ahLst/>
            <a:cxnLst/>
            <a:rect l="l" t="t" r="r" b="b"/>
            <a:pathLst>
              <a:path w="475157" h="475157">
                <a:moveTo>
                  <a:pt x="0" y="0"/>
                </a:moveTo>
                <a:lnTo>
                  <a:pt x="475157" y="0"/>
                </a:lnTo>
                <a:lnTo>
                  <a:pt x="475157" y="475157"/>
                </a:lnTo>
                <a:lnTo>
                  <a:pt x="0" y="475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2" name="AutoShape 92"/>
          <p:cNvSpPr/>
          <p:nvPr/>
        </p:nvSpPr>
        <p:spPr>
          <a:xfrm flipV="1">
            <a:off x="15579110" y="6394902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3" name="AutoShape 93"/>
          <p:cNvSpPr/>
          <p:nvPr/>
        </p:nvSpPr>
        <p:spPr>
          <a:xfrm flipV="1">
            <a:off x="15579110" y="5431795"/>
            <a:ext cx="0" cy="4879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4" name="AutoShape 94"/>
          <p:cNvSpPr/>
          <p:nvPr/>
        </p:nvSpPr>
        <p:spPr>
          <a:xfrm>
            <a:off x="15831380" y="6995192"/>
            <a:ext cx="1989488" cy="18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5" name="AutoShape 95"/>
          <p:cNvSpPr/>
          <p:nvPr/>
        </p:nvSpPr>
        <p:spPr>
          <a:xfrm flipV="1">
            <a:off x="15580340" y="4368087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6" name="AutoShape 96"/>
          <p:cNvSpPr/>
          <p:nvPr/>
        </p:nvSpPr>
        <p:spPr>
          <a:xfrm flipV="1">
            <a:off x="13462407" y="7268283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7" name="AutoShape 97"/>
          <p:cNvSpPr/>
          <p:nvPr/>
        </p:nvSpPr>
        <p:spPr>
          <a:xfrm flipH="1">
            <a:off x="14778648" y="8077266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8" name="AutoShape 98"/>
          <p:cNvSpPr/>
          <p:nvPr/>
        </p:nvSpPr>
        <p:spPr>
          <a:xfrm>
            <a:off x="14520996" y="6154050"/>
            <a:ext cx="0" cy="54991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9" name="TextBox 99"/>
          <p:cNvSpPr txBox="1"/>
          <p:nvPr/>
        </p:nvSpPr>
        <p:spPr>
          <a:xfrm>
            <a:off x="16176150" y="595871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</a:t>
            </a:r>
          </a:p>
        </p:txBody>
      </p:sp>
      <p:sp>
        <p:nvSpPr>
          <p:cNvPr id="100" name="AutoShape 100"/>
          <p:cNvSpPr/>
          <p:nvPr/>
        </p:nvSpPr>
        <p:spPr>
          <a:xfrm flipH="1">
            <a:off x="15831380" y="6207131"/>
            <a:ext cx="363819" cy="139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1" name="TextBox 101"/>
          <p:cNvSpPr txBox="1"/>
          <p:nvPr/>
        </p:nvSpPr>
        <p:spPr>
          <a:xfrm>
            <a:off x="16250977" y="4937365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bᵧ</a:t>
            </a:r>
          </a:p>
        </p:txBody>
      </p:sp>
      <p:sp>
        <p:nvSpPr>
          <p:cNvPr id="102" name="AutoShape 102"/>
          <p:cNvSpPr/>
          <p:nvPr/>
        </p:nvSpPr>
        <p:spPr>
          <a:xfrm flipH="1">
            <a:off x="15850430" y="5208827"/>
            <a:ext cx="54991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3" name="TextBox 103"/>
          <p:cNvSpPr txBox="1"/>
          <p:nvPr/>
        </p:nvSpPr>
        <p:spPr>
          <a:xfrm>
            <a:off x="13104751" y="782054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Wₕₕ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130087" y="5692781"/>
            <a:ext cx="7818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bₕ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5376465" y="7820541"/>
            <a:ext cx="779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009513" y="6482702"/>
            <a:ext cx="42713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</a:t>
            </a:r>
          </a:p>
        </p:txBody>
      </p:sp>
      <p:sp>
        <p:nvSpPr>
          <p:cNvPr id="107" name="Freeform 107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108" name="Group 108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BA124EB-9C79-5FB1-C156-9B2055F28FDD}"/>
              </a:ext>
            </a:extLst>
          </p:cNvPr>
          <p:cNvSpPr/>
          <p:nvPr/>
        </p:nvSpPr>
        <p:spPr>
          <a:xfrm>
            <a:off x="9358047" y="2955635"/>
            <a:ext cx="6252021" cy="602380"/>
          </a:xfrm>
          <a:prstGeom prst="roundRect">
            <a:avLst/>
          </a:prstGeom>
          <a:solidFill>
            <a:srgbClr val="FFFF0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70714" y="3308087"/>
            <a:ext cx="1234889" cy="3220260"/>
            <a:chOff x="0" y="0"/>
            <a:chExt cx="325238" cy="848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238" cy="848134"/>
            </a:xfrm>
            <a:custGeom>
              <a:avLst/>
              <a:gdLst/>
              <a:ahLst/>
              <a:cxnLst/>
              <a:rect l="l" t="t" r="r" b="b"/>
              <a:pathLst>
                <a:path w="325238" h="848134">
                  <a:moveTo>
                    <a:pt x="0" y="0"/>
                  </a:moveTo>
                  <a:lnTo>
                    <a:pt x="325238" y="0"/>
                  </a:lnTo>
                  <a:lnTo>
                    <a:pt x="325238" y="848134"/>
                  </a:lnTo>
                  <a:lnTo>
                    <a:pt x="0" y="848134"/>
                  </a:lnTo>
                  <a:close/>
                </a:path>
              </a:pathLst>
            </a:custGeom>
            <a:solidFill>
              <a:srgbClr val="FAFFC2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5238" cy="886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789697" y="3504577"/>
            <a:ext cx="550676" cy="550676"/>
          </a:xfrm>
          <a:custGeom>
            <a:avLst/>
            <a:gdLst/>
            <a:ahLst/>
            <a:cxnLst/>
            <a:rect l="l" t="t" r="r" b="b"/>
            <a:pathLst>
              <a:path w="550676" h="550676">
                <a:moveTo>
                  <a:pt x="0" y="0"/>
                </a:moveTo>
                <a:lnTo>
                  <a:pt x="550676" y="0"/>
                </a:lnTo>
                <a:lnTo>
                  <a:pt x="550676" y="550676"/>
                </a:lnTo>
                <a:lnTo>
                  <a:pt x="0" y="550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123727" y="6635584"/>
            <a:ext cx="3470521" cy="2266146"/>
            <a:chOff x="0" y="0"/>
            <a:chExt cx="914047" cy="5968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047" cy="596845"/>
            </a:xfrm>
            <a:custGeom>
              <a:avLst/>
              <a:gdLst/>
              <a:ahLst/>
              <a:cxnLst/>
              <a:rect l="l" t="t" r="r" b="b"/>
              <a:pathLst>
                <a:path w="914047" h="596845">
                  <a:moveTo>
                    <a:pt x="0" y="0"/>
                  </a:moveTo>
                  <a:lnTo>
                    <a:pt x="914047" y="0"/>
                  </a:lnTo>
                  <a:lnTo>
                    <a:pt x="914047" y="596845"/>
                  </a:lnTo>
                  <a:lnTo>
                    <a:pt x="0" y="596845"/>
                  </a:lnTo>
                  <a:close/>
                </a:path>
              </a:pathLst>
            </a:custGeom>
            <a:solidFill>
              <a:srgbClr val="DEEDF7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14047" cy="634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620983" y="7154565"/>
            <a:ext cx="17180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2338930" y="6869779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3" y="0"/>
                </a:lnTo>
                <a:lnTo>
                  <a:pt x="570433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540704" y="6856329"/>
            <a:ext cx="550467" cy="550467"/>
          </a:xfrm>
          <a:custGeom>
            <a:avLst/>
            <a:gdLst/>
            <a:ahLst/>
            <a:cxnLst/>
            <a:rect l="l" t="t" r="r" b="b"/>
            <a:pathLst>
              <a:path w="550467" h="550467">
                <a:moveTo>
                  <a:pt x="0" y="0"/>
                </a:moveTo>
                <a:lnTo>
                  <a:pt x="550467" y="0"/>
                </a:lnTo>
                <a:lnTo>
                  <a:pt x="550467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2903636" y="7131563"/>
            <a:ext cx="6370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AutoShape 16"/>
          <p:cNvSpPr/>
          <p:nvPr/>
        </p:nvSpPr>
        <p:spPr>
          <a:xfrm flipV="1">
            <a:off x="3829388" y="7420246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Freeform 17"/>
          <p:cNvSpPr/>
          <p:nvPr/>
        </p:nvSpPr>
        <p:spPr>
          <a:xfrm>
            <a:off x="3544172" y="8070765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2" y="0"/>
                </a:lnTo>
                <a:lnTo>
                  <a:pt x="570432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 flipV="1">
            <a:off x="3844418" y="8621232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9" name="Freeform 19"/>
          <p:cNvSpPr/>
          <p:nvPr/>
        </p:nvSpPr>
        <p:spPr>
          <a:xfrm>
            <a:off x="4722433" y="6827745"/>
            <a:ext cx="607636" cy="607636"/>
          </a:xfrm>
          <a:custGeom>
            <a:avLst/>
            <a:gdLst/>
            <a:ahLst/>
            <a:cxnLst/>
            <a:rect l="l" t="t" r="r" b="b"/>
            <a:pathLst>
              <a:path w="607636" h="607636">
                <a:moveTo>
                  <a:pt x="0" y="0"/>
                </a:moveTo>
                <a:lnTo>
                  <a:pt x="607636" y="0"/>
                </a:lnTo>
                <a:lnTo>
                  <a:pt x="607636" y="607636"/>
                </a:lnTo>
                <a:lnTo>
                  <a:pt x="0" y="6076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4114604" y="7116533"/>
            <a:ext cx="6370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Freeform 21"/>
          <p:cNvSpPr/>
          <p:nvPr/>
        </p:nvSpPr>
        <p:spPr>
          <a:xfrm>
            <a:off x="4759636" y="5758806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3" y="0"/>
                </a:lnTo>
                <a:lnTo>
                  <a:pt x="570433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769619" y="4757351"/>
            <a:ext cx="550467" cy="550467"/>
          </a:xfrm>
          <a:custGeom>
            <a:avLst/>
            <a:gdLst/>
            <a:ahLst/>
            <a:cxnLst/>
            <a:rect l="l" t="t" r="r" b="b"/>
            <a:pathLst>
              <a:path w="550467" h="550467">
                <a:moveTo>
                  <a:pt x="0" y="0"/>
                </a:moveTo>
                <a:lnTo>
                  <a:pt x="550467" y="0"/>
                </a:lnTo>
                <a:lnTo>
                  <a:pt x="550467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 flipV="1">
            <a:off x="5059883" y="6309273"/>
            <a:ext cx="0" cy="679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4" name="AutoShape 24"/>
          <p:cNvSpPr/>
          <p:nvPr/>
        </p:nvSpPr>
        <p:spPr>
          <a:xfrm flipV="1">
            <a:off x="5059883" y="5307818"/>
            <a:ext cx="0" cy="4418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>
            <a:off x="5352136" y="7119006"/>
            <a:ext cx="21749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 flipV="1">
            <a:off x="5061308" y="4075517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AutoShape 27"/>
          <p:cNvSpPr/>
          <p:nvPr/>
        </p:nvSpPr>
        <p:spPr>
          <a:xfrm flipV="1">
            <a:off x="2617217" y="7435381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AutoShape 28"/>
          <p:cNvSpPr/>
          <p:nvPr/>
        </p:nvSpPr>
        <p:spPr>
          <a:xfrm flipH="1">
            <a:off x="4132551" y="8372584"/>
            <a:ext cx="3777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>
            <a:off x="3834062" y="6144548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TextBox 30"/>
          <p:cNvSpPr txBox="1"/>
          <p:nvPr/>
        </p:nvSpPr>
        <p:spPr>
          <a:xfrm>
            <a:off x="5750961" y="5780160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</a:t>
            </a:r>
          </a:p>
        </p:txBody>
      </p:sp>
      <p:sp>
        <p:nvSpPr>
          <p:cNvPr id="31" name="AutoShape 31"/>
          <p:cNvSpPr/>
          <p:nvPr/>
        </p:nvSpPr>
        <p:spPr>
          <a:xfrm flipH="1">
            <a:off x="5352136" y="6093360"/>
            <a:ext cx="47158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TextBox 32"/>
          <p:cNvSpPr txBox="1"/>
          <p:nvPr/>
        </p:nvSpPr>
        <p:spPr>
          <a:xfrm>
            <a:off x="5750961" y="4825339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bᵧ</a:t>
            </a:r>
          </a:p>
        </p:txBody>
      </p:sp>
      <p:sp>
        <p:nvSpPr>
          <p:cNvPr id="33" name="AutoShape 33"/>
          <p:cNvSpPr/>
          <p:nvPr/>
        </p:nvSpPr>
        <p:spPr>
          <a:xfrm flipH="1">
            <a:off x="5352136" y="5111089"/>
            <a:ext cx="4861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AutoShape 34"/>
          <p:cNvSpPr/>
          <p:nvPr/>
        </p:nvSpPr>
        <p:spPr>
          <a:xfrm flipV="1">
            <a:off x="5054222" y="2969650"/>
            <a:ext cx="0" cy="5158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TextBox 35"/>
          <p:cNvSpPr txBox="1"/>
          <p:nvPr/>
        </p:nvSpPr>
        <p:spPr>
          <a:xfrm>
            <a:off x="2238388" y="8086834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76521" y="5600177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74974" y="8106882"/>
            <a:ext cx="90255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</a:t>
            </a:r>
          </a:p>
        </p:txBody>
      </p:sp>
      <p:sp>
        <p:nvSpPr>
          <p:cNvPr id="38" name="Freeform 38"/>
          <p:cNvSpPr/>
          <p:nvPr/>
        </p:nvSpPr>
        <p:spPr>
          <a:xfrm flipH="1">
            <a:off x="2677788" y="3647985"/>
            <a:ext cx="348389" cy="895350"/>
          </a:xfrm>
          <a:custGeom>
            <a:avLst/>
            <a:gdLst/>
            <a:ahLst/>
            <a:cxnLst/>
            <a:rect l="l" t="t" r="r" b="b"/>
            <a:pathLst>
              <a:path w="278710" h="895350">
                <a:moveTo>
                  <a:pt x="278710" y="0"/>
                </a:moveTo>
                <a:lnTo>
                  <a:pt x="139355" y="0"/>
                </a:lnTo>
                <a:cubicBezTo>
                  <a:pt x="62391" y="0"/>
                  <a:pt x="0" y="62391"/>
                  <a:pt x="0" y="139355"/>
                </a:cubicBezTo>
                <a:lnTo>
                  <a:pt x="0" y="895350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774225" y="6595023"/>
            <a:ext cx="719882" cy="546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hₜ₋₁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608407" y="4543335"/>
            <a:ext cx="5048288" cy="4548537"/>
            <a:chOff x="0" y="0"/>
            <a:chExt cx="1329590" cy="119796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29590" cy="1197969"/>
            </a:xfrm>
            <a:custGeom>
              <a:avLst/>
              <a:gdLst/>
              <a:ahLst/>
              <a:cxnLst/>
              <a:rect l="l" t="t" r="r" b="b"/>
              <a:pathLst>
                <a:path w="1329590" h="1197969">
                  <a:moveTo>
                    <a:pt x="0" y="0"/>
                  </a:moveTo>
                  <a:lnTo>
                    <a:pt x="1329590" y="0"/>
                  </a:lnTo>
                  <a:lnTo>
                    <a:pt x="1329590" y="1197969"/>
                  </a:lnTo>
                  <a:lnTo>
                    <a:pt x="0" y="1197969"/>
                  </a:lnTo>
                  <a:close/>
                </a:path>
              </a:pathLst>
            </a:custGeom>
            <a:solidFill>
              <a:srgbClr val="DEEDF7">
                <a:alpha val="25882"/>
              </a:srgbClr>
            </a:solidFill>
            <a:ln w="38100" cap="sq">
              <a:solidFill>
                <a:srgbClr val="000000">
                  <a:alpha val="25882"/>
                </a:srgbClr>
              </a:solidFill>
              <a:prstDash val="dash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329590" cy="123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847195" y="6570579"/>
            <a:ext cx="3707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19481" y="2435738"/>
            <a:ext cx="291108" cy="43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6"/>
              </a:lnSpc>
              <a:spcBef>
                <a:spcPct val="0"/>
              </a:spcBef>
            </a:pPr>
            <a:r>
              <a:rPr lang="en-US" sz="260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77321" y="9149790"/>
            <a:ext cx="3341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3231" y="2506009"/>
            <a:ext cx="287880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 Timestep 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08585" y="2984627"/>
            <a:ext cx="622019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What happen at timestep t?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72575" y="4436360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62023" y="4415086"/>
            <a:ext cx="3189961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input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62024" y="5334112"/>
            <a:ext cx="332450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Previous state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062775" y="6164636"/>
            <a:ext cx="2455909" cy="777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 </a:t>
            </a:r>
          </a:p>
          <a:p>
            <a:pPr algn="l">
              <a:lnSpc>
                <a:spcPts val="1500"/>
              </a:lnSpc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 combine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193480" y="7463406"/>
            <a:ext cx="143946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86819" y="8487994"/>
            <a:ext cx="161505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748879" y="4398237"/>
            <a:ext cx="30822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xₜ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681825" y="5317263"/>
            <a:ext cx="64397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hₜ₋₁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742621" y="6242598"/>
            <a:ext cx="368736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Wₕₓxₜ + Wₕₕhₜ₋₁ + bₕ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721829" y="7418420"/>
            <a:ext cx="103249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 → hₜ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716509" y="8477965"/>
            <a:ext cx="104313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 → yₜ</a:t>
            </a:r>
          </a:p>
        </p:txBody>
      </p:sp>
      <p:sp>
        <p:nvSpPr>
          <p:cNvPr id="59" name="Freeform 59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60" name="Group 60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74225" y="3362235"/>
            <a:ext cx="178102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RNN Cell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90E798D-4DDC-63AC-275C-5351A3EB2591}"/>
              </a:ext>
            </a:extLst>
          </p:cNvPr>
          <p:cNvSpPr/>
          <p:nvPr/>
        </p:nvSpPr>
        <p:spPr>
          <a:xfrm>
            <a:off x="728851" y="2503370"/>
            <a:ext cx="2916396" cy="60238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2484968-DA04-2094-3B40-C4A8A8AE0995}"/>
              </a:ext>
            </a:extLst>
          </p:cNvPr>
          <p:cNvSpPr/>
          <p:nvPr/>
        </p:nvSpPr>
        <p:spPr>
          <a:xfrm>
            <a:off x="734754" y="3331881"/>
            <a:ext cx="1859963" cy="602380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1FDE2B-ECD2-A6CB-BF63-17C75AC3D5F1}"/>
              </a:ext>
            </a:extLst>
          </p:cNvPr>
          <p:cNvSpPr/>
          <p:nvPr/>
        </p:nvSpPr>
        <p:spPr>
          <a:xfrm>
            <a:off x="9206156" y="4401294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CF6B9722-1C2C-2145-AA6A-AE8E368F7B71}"/>
              </a:ext>
            </a:extLst>
          </p:cNvPr>
          <p:cNvSpPr txBox="1"/>
          <p:nvPr/>
        </p:nvSpPr>
        <p:spPr>
          <a:xfrm>
            <a:off x="9097010" y="4448463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D7F7D8C-8CD4-7EC0-586A-E1E5AF4C53F1}"/>
              </a:ext>
            </a:extLst>
          </p:cNvPr>
          <p:cNvSpPr/>
          <p:nvPr/>
        </p:nvSpPr>
        <p:spPr>
          <a:xfrm>
            <a:off x="9212722" y="5341059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268B1D5-E24A-9619-CC1B-6C2080D4C9BB}"/>
              </a:ext>
            </a:extLst>
          </p:cNvPr>
          <p:cNvSpPr/>
          <p:nvPr/>
        </p:nvSpPr>
        <p:spPr>
          <a:xfrm>
            <a:off x="9228907" y="6383459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8A230D6-9357-1C7D-9AAB-DA9A1D927E55}"/>
              </a:ext>
            </a:extLst>
          </p:cNvPr>
          <p:cNvSpPr/>
          <p:nvPr/>
        </p:nvSpPr>
        <p:spPr>
          <a:xfrm>
            <a:off x="9234975" y="7392814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A033B27-DA53-D6D0-2A69-7CB4B5E8C690}"/>
              </a:ext>
            </a:extLst>
          </p:cNvPr>
          <p:cNvSpPr/>
          <p:nvPr/>
        </p:nvSpPr>
        <p:spPr>
          <a:xfrm>
            <a:off x="9255400" y="8428078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25">
            <a:extLst>
              <a:ext uri="{FF2B5EF4-FFF2-40B4-BE49-F238E27FC236}">
                <a16:creationId xmlns:a16="http://schemas.microsoft.com/office/drawing/2014/main" id="{37EFB237-9786-A407-B4FE-DA3DC15F4A46}"/>
              </a:ext>
            </a:extLst>
          </p:cNvPr>
          <p:cNvSpPr txBox="1"/>
          <p:nvPr/>
        </p:nvSpPr>
        <p:spPr>
          <a:xfrm>
            <a:off x="9097392" y="5412490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80" name="TextBox 25">
            <a:extLst>
              <a:ext uri="{FF2B5EF4-FFF2-40B4-BE49-F238E27FC236}">
                <a16:creationId xmlns:a16="http://schemas.microsoft.com/office/drawing/2014/main" id="{F5143962-3904-F2C4-310D-F7FAF35ECCC4}"/>
              </a:ext>
            </a:extLst>
          </p:cNvPr>
          <p:cNvSpPr txBox="1"/>
          <p:nvPr/>
        </p:nvSpPr>
        <p:spPr>
          <a:xfrm>
            <a:off x="9120684" y="6454927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1" name="TextBox 25">
            <a:extLst>
              <a:ext uri="{FF2B5EF4-FFF2-40B4-BE49-F238E27FC236}">
                <a16:creationId xmlns:a16="http://schemas.microsoft.com/office/drawing/2014/main" id="{4340E97A-9ED5-34F4-9770-5E97C1E224E6}"/>
              </a:ext>
            </a:extLst>
          </p:cNvPr>
          <p:cNvSpPr txBox="1"/>
          <p:nvPr/>
        </p:nvSpPr>
        <p:spPr>
          <a:xfrm>
            <a:off x="9120684" y="7466270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82" name="TextBox 25">
            <a:extLst>
              <a:ext uri="{FF2B5EF4-FFF2-40B4-BE49-F238E27FC236}">
                <a16:creationId xmlns:a16="http://schemas.microsoft.com/office/drawing/2014/main" id="{FB5CFA3D-C231-91E2-8FB3-BC0D53DF3A0E}"/>
              </a:ext>
            </a:extLst>
          </p:cNvPr>
          <p:cNvSpPr txBox="1"/>
          <p:nvPr/>
        </p:nvSpPr>
        <p:spPr>
          <a:xfrm>
            <a:off x="9139688" y="8487994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419C792-AE0E-88B0-A54C-7398DCE837A2}"/>
              </a:ext>
            </a:extLst>
          </p:cNvPr>
          <p:cNvSpPr/>
          <p:nvPr/>
        </p:nvSpPr>
        <p:spPr>
          <a:xfrm>
            <a:off x="9573507" y="5445882"/>
            <a:ext cx="4979236" cy="60238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DFE5B1D-F7BB-7FF5-B7B9-CA261F556145}"/>
              </a:ext>
            </a:extLst>
          </p:cNvPr>
          <p:cNvSpPr/>
          <p:nvPr/>
        </p:nvSpPr>
        <p:spPr>
          <a:xfrm>
            <a:off x="9573507" y="2829490"/>
            <a:ext cx="4979236" cy="64375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8153" y="3675900"/>
            <a:ext cx="5166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 = F(Wₕₓxₜ + Wₕₕhₜ₋₁ + bₕ)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86502" y="6273592"/>
            <a:ext cx="321543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 = G(Wₕhₜ + bᵧ)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51156" y="2894190"/>
            <a:ext cx="497923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HIDDEN STATE UPDATE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8153" y="4368139"/>
            <a:ext cx="44512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Vanilla: F = Tanh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60682" y="5492542"/>
            <a:ext cx="4892061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OUTPUT GENERATOR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8153" y="6962929"/>
            <a:ext cx="48920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 depends on task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89365" y="7553389"/>
            <a:ext cx="608308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sigmoid → binary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89365" y="8143939"/>
            <a:ext cx="573229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softmax → multiple class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89365" y="8734489"/>
            <a:ext cx="457754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Linear → regression </a:t>
            </a:r>
          </a:p>
        </p:txBody>
      </p:sp>
      <p:sp>
        <p:nvSpPr>
          <p:cNvPr id="14" name="Freeform 14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83216" y="441514"/>
            <a:ext cx="134749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372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KIẾN TRÚC VÀ NGUYÊN LÝ HOẠT ĐỘNG CỦA MẠNG NƠ-RON HỒI QUY (RNN)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470714" y="3308087"/>
            <a:ext cx="1234889" cy="3220260"/>
            <a:chOff x="0" y="0"/>
            <a:chExt cx="325238" cy="8481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5238" cy="848134"/>
            </a:xfrm>
            <a:custGeom>
              <a:avLst/>
              <a:gdLst/>
              <a:ahLst/>
              <a:cxnLst/>
              <a:rect l="l" t="t" r="r" b="b"/>
              <a:pathLst>
                <a:path w="325238" h="848134">
                  <a:moveTo>
                    <a:pt x="0" y="0"/>
                  </a:moveTo>
                  <a:lnTo>
                    <a:pt x="325238" y="0"/>
                  </a:lnTo>
                  <a:lnTo>
                    <a:pt x="325238" y="848134"/>
                  </a:lnTo>
                  <a:lnTo>
                    <a:pt x="0" y="848134"/>
                  </a:lnTo>
                  <a:close/>
                </a:path>
              </a:pathLst>
            </a:custGeom>
            <a:solidFill>
              <a:srgbClr val="FAFFC2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25238" cy="886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4789697" y="3504577"/>
            <a:ext cx="550676" cy="550676"/>
          </a:xfrm>
          <a:custGeom>
            <a:avLst/>
            <a:gdLst/>
            <a:ahLst/>
            <a:cxnLst/>
            <a:rect l="l" t="t" r="r" b="b"/>
            <a:pathLst>
              <a:path w="550676" h="550676">
                <a:moveTo>
                  <a:pt x="0" y="0"/>
                </a:moveTo>
                <a:lnTo>
                  <a:pt x="550676" y="0"/>
                </a:lnTo>
                <a:lnTo>
                  <a:pt x="550676" y="550676"/>
                </a:lnTo>
                <a:lnTo>
                  <a:pt x="0" y="550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123727" y="6635584"/>
            <a:ext cx="3470521" cy="2266146"/>
            <a:chOff x="0" y="0"/>
            <a:chExt cx="914047" cy="5968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047" cy="596845"/>
            </a:xfrm>
            <a:custGeom>
              <a:avLst/>
              <a:gdLst/>
              <a:ahLst/>
              <a:cxnLst/>
              <a:rect l="l" t="t" r="r" b="b"/>
              <a:pathLst>
                <a:path w="914047" h="596845">
                  <a:moveTo>
                    <a:pt x="0" y="0"/>
                  </a:moveTo>
                  <a:lnTo>
                    <a:pt x="914047" y="0"/>
                  </a:lnTo>
                  <a:lnTo>
                    <a:pt x="914047" y="596845"/>
                  </a:lnTo>
                  <a:lnTo>
                    <a:pt x="0" y="596845"/>
                  </a:lnTo>
                  <a:close/>
                </a:path>
              </a:pathLst>
            </a:custGeom>
            <a:solidFill>
              <a:srgbClr val="DEEDF7"/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14047" cy="634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620983" y="7154565"/>
            <a:ext cx="17180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Freeform 27"/>
          <p:cNvSpPr/>
          <p:nvPr/>
        </p:nvSpPr>
        <p:spPr>
          <a:xfrm>
            <a:off x="2338930" y="6869779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3" y="0"/>
                </a:lnTo>
                <a:lnTo>
                  <a:pt x="570433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540704" y="6856329"/>
            <a:ext cx="550467" cy="550467"/>
          </a:xfrm>
          <a:custGeom>
            <a:avLst/>
            <a:gdLst/>
            <a:ahLst/>
            <a:cxnLst/>
            <a:rect l="l" t="t" r="r" b="b"/>
            <a:pathLst>
              <a:path w="550467" h="550467">
                <a:moveTo>
                  <a:pt x="0" y="0"/>
                </a:moveTo>
                <a:lnTo>
                  <a:pt x="550467" y="0"/>
                </a:lnTo>
                <a:lnTo>
                  <a:pt x="550467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>
            <a:off x="2903636" y="7131563"/>
            <a:ext cx="6370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0" name="Group 30"/>
          <p:cNvGrpSpPr/>
          <p:nvPr/>
        </p:nvGrpSpPr>
        <p:grpSpPr>
          <a:xfrm>
            <a:off x="1608407" y="4543335"/>
            <a:ext cx="5048288" cy="4548537"/>
            <a:chOff x="0" y="0"/>
            <a:chExt cx="1329590" cy="119796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29590" cy="1197969"/>
            </a:xfrm>
            <a:custGeom>
              <a:avLst/>
              <a:gdLst/>
              <a:ahLst/>
              <a:cxnLst/>
              <a:rect l="l" t="t" r="r" b="b"/>
              <a:pathLst>
                <a:path w="1329590" h="1197969">
                  <a:moveTo>
                    <a:pt x="0" y="0"/>
                  </a:moveTo>
                  <a:lnTo>
                    <a:pt x="1329590" y="0"/>
                  </a:lnTo>
                  <a:lnTo>
                    <a:pt x="1329590" y="1197969"/>
                  </a:lnTo>
                  <a:lnTo>
                    <a:pt x="0" y="1197969"/>
                  </a:lnTo>
                  <a:close/>
                </a:path>
              </a:pathLst>
            </a:custGeom>
            <a:solidFill>
              <a:srgbClr val="DEEDF7">
                <a:alpha val="25882"/>
              </a:srgbClr>
            </a:solidFill>
            <a:ln w="38100" cap="sq">
              <a:solidFill>
                <a:srgbClr val="000000">
                  <a:alpha val="25882"/>
                </a:srgbClr>
              </a:solidFill>
              <a:prstDash val="dash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29590" cy="123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 flipV="1">
            <a:off x="3829388" y="7420246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Freeform 34"/>
          <p:cNvSpPr/>
          <p:nvPr/>
        </p:nvSpPr>
        <p:spPr>
          <a:xfrm>
            <a:off x="3544172" y="8070765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2" y="0"/>
                </a:lnTo>
                <a:lnTo>
                  <a:pt x="570432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AutoShape 35"/>
          <p:cNvSpPr/>
          <p:nvPr/>
        </p:nvSpPr>
        <p:spPr>
          <a:xfrm flipV="1">
            <a:off x="3844418" y="8621232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Freeform 36"/>
          <p:cNvSpPr/>
          <p:nvPr/>
        </p:nvSpPr>
        <p:spPr>
          <a:xfrm>
            <a:off x="4722433" y="6827745"/>
            <a:ext cx="607636" cy="607636"/>
          </a:xfrm>
          <a:custGeom>
            <a:avLst/>
            <a:gdLst/>
            <a:ahLst/>
            <a:cxnLst/>
            <a:rect l="l" t="t" r="r" b="b"/>
            <a:pathLst>
              <a:path w="607636" h="607636">
                <a:moveTo>
                  <a:pt x="0" y="0"/>
                </a:moveTo>
                <a:lnTo>
                  <a:pt x="607636" y="0"/>
                </a:lnTo>
                <a:lnTo>
                  <a:pt x="607636" y="607636"/>
                </a:lnTo>
                <a:lnTo>
                  <a:pt x="0" y="6076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7" name="AutoShape 37"/>
          <p:cNvSpPr/>
          <p:nvPr/>
        </p:nvSpPr>
        <p:spPr>
          <a:xfrm>
            <a:off x="4114604" y="7116533"/>
            <a:ext cx="6370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Freeform 38"/>
          <p:cNvSpPr/>
          <p:nvPr/>
        </p:nvSpPr>
        <p:spPr>
          <a:xfrm>
            <a:off x="4759636" y="5758806"/>
            <a:ext cx="570432" cy="550467"/>
          </a:xfrm>
          <a:custGeom>
            <a:avLst/>
            <a:gdLst/>
            <a:ahLst/>
            <a:cxnLst/>
            <a:rect l="l" t="t" r="r" b="b"/>
            <a:pathLst>
              <a:path w="570432" h="550467">
                <a:moveTo>
                  <a:pt x="0" y="0"/>
                </a:moveTo>
                <a:lnTo>
                  <a:pt x="570433" y="0"/>
                </a:lnTo>
                <a:lnTo>
                  <a:pt x="570433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4769619" y="4757351"/>
            <a:ext cx="550467" cy="550467"/>
          </a:xfrm>
          <a:custGeom>
            <a:avLst/>
            <a:gdLst/>
            <a:ahLst/>
            <a:cxnLst/>
            <a:rect l="l" t="t" r="r" b="b"/>
            <a:pathLst>
              <a:path w="550467" h="550467">
                <a:moveTo>
                  <a:pt x="0" y="0"/>
                </a:moveTo>
                <a:lnTo>
                  <a:pt x="550467" y="0"/>
                </a:lnTo>
                <a:lnTo>
                  <a:pt x="550467" y="550467"/>
                </a:lnTo>
                <a:lnTo>
                  <a:pt x="0" y="550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AutoShape 40"/>
          <p:cNvSpPr/>
          <p:nvPr/>
        </p:nvSpPr>
        <p:spPr>
          <a:xfrm flipV="1">
            <a:off x="5059883" y="6309273"/>
            <a:ext cx="0" cy="679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/>
          <p:cNvSpPr/>
          <p:nvPr/>
        </p:nvSpPr>
        <p:spPr>
          <a:xfrm flipV="1">
            <a:off x="5059883" y="5307818"/>
            <a:ext cx="0" cy="4418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>
            <a:off x="5352136" y="7119006"/>
            <a:ext cx="21749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3" name="AutoShape 43"/>
          <p:cNvSpPr/>
          <p:nvPr/>
        </p:nvSpPr>
        <p:spPr>
          <a:xfrm flipV="1">
            <a:off x="5061308" y="4075517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4" name="AutoShape 44"/>
          <p:cNvSpPr/>
          <p:nvPr/>
        </p:nvSpPr>
        <p:spPr>
          <a:xfrm flipV="1">
            <a:off x="2617217" y="7435381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5" name="AutoShape 45"/>
          <p:cNvSpPr/>
          <p:nvPr/>
        </p:nvSpPr>
        <p:spPr>
          <a:xfrm flipH="1">
            <a:off x="4132551" y="8372584"/>
            <a:ext cx="3777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6" name="AutoShape 46"/>
          <p:cNvSpPr/>
          <p:nvPr/>
        </p:nvSpPr>
        <p:spPr>
          <a:xfrm>
            <a:off x="3834062" y="6144548"/>
            <a:ext cx="0" cy="637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7" name="TextBox 47"/>
          <p:cNvSpPr txBox="1"/>
          <p:nvPr/>
        </p:nvSpPr>
        <p:spPr>
          <a:xfrm>
            <a:off x="5750961" y="5780160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</a:t>
            </a:r>
          </a:p>
        </p:txBody>
      </p:sp>
      <p:sp>
        <p:nvSpPr>
          <p:cNvPr id="48" name="AutoShape 48"/>
          <p:cNvSpPr/>
          <p:nvPr/>
        </p:nvSpPr>
        <p:spPr>
          <a:xfrm flipH="1">
            <a:off x="5352136" y="6093360"/>
            <a:ext cx="47158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9" name="TextBox 49"/>
          <p:cNvSpPr txBox="1"/>
          <p:nvPr/>
        </p:nvSpPr>
        <p:spPr>
          <a:xfrm>
            <a:off x="5750961" y="4825339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bᵧ</a:t>
            </a:r>
          </a:p>
        </p:txBody>
      </p:sp>
      <p:sp>
        <p:nvSpPr>
          <p:cNvPr id="50" name="AutoShape 50"/>
          <p:cNvSpPr/>
          <p:nvPr/>
        </p:nvSpPr>
        <p:spPr>
          <a:xfrm flipH="1">
            <a:off x="5352136" y="5111089"/>
            <a:ext cx="4861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1" name="AutoShape 51"/>
          <p:cNvSpPr/>
          <p:nvPr/>
        </p:nvSpPr>
        <p:spPr>
          <a:xfrm flipV="1">
            <a:off x="5054222" y="2969650"/>
            <a:ext cx="0" cy="5158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2" name="TextBox 52"/>
          <p:cNvSpPr txBox="1"/>
          <p:nvPr/>
        </p:nvSpPr>
        <p:spPr>
          <a:xfrm>
            <a:off x="2238388" y="8086834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Wₕₕ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76521" y="5600177"/>
            <a:ext cx="9057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bₕ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74974" y="8106882"/>
            <a:ext cx="90255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</a:t>
            </a:r>
          </a:p>
        </p:txBody>
      </p:sp>
      <p:sp>
        <p:nvSpPr>
          <p:cNvPr id="55" name="Freeform 55"/>
          <p:cNvSpPr/>
          <p:nvPr/>
        </p:nvSpPr>
        <p:spPr>
          <a:xfrm flipH="1">
            <a:off x="2461129" y="3682257"/>
            <a:ext cx="282574" cy="861077"/>
          </a:xfrm>
          <a:custGeom>
            <a:avLst/>
            <a:gdLst/>
            <a:ahLst/>
            <a:cxnLst/>
            <a:rect l="l" t="t" r="r" b="b"/>
            <a:pathLst>
              <a:path w="278710" h="895350">
                <a:moveTo>
                  <a:pt x="278710" y="0"/>
                </a:moveTo>
                <a:lnTo>
                  <a:pt x="139355" y="0"/>
                </a:lnTo>
                <a:cubicBezTo>
                  <a:pt x="62391" y="0"/>
                  <a:pt x="0" y="62391"/>
                  <a:pt x="0" y="139355"/>
                </a:cubicBezTo>
                <a:lnTo>
                  <a:pt x="0" y="895350"/>
                </a:lnTo>
              </a:path>
            </a:pathLst>
          </a:cu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6" name="TextBox 56"/>
          <p:cNvSpPr txBox="1"/>
          <p:nvPr/>
        </p:nvSpPr>
        <p:spPr>
          <a:xfrm>
            <a:off x="774225" y="6595023"/>
            <a:ext cx="719882" cy="546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hₜ₋₁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47195" y="6570579"/>
            <a:ext cx="3707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hₜ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919481" y="2435738"/>
            <a:ext cx="291108" cy="43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6"/>
              </a:lnSpc>
              <a:spcBef>
                <a:spcPct val="0"/>
              </a:spcBef>
            </a:pPr>
            <a:r>
              <a:rPr lang="en-US" sz="260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yₜ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77321" y="9149790"/>
            <a:ext cx="3341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xₜ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4938" y="2506275"/>
            <a:ext cx="301952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 Timestep 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27291" y="3386947"/>
            <a:ext cx="1933839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RNN Cell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EE90EF5-8A6A-7421-67DE-E49A49CEC7AC}"/>
              </a:ext>
            </a:extLst>
          </p:cNvPr>
          <p:cNvSpPr/>
          <p:nvPr/>
        </p:nvSpPr>
        <p:spPr>
          <a:xfrm>
            <a:off x="522230" y="2476858"/>
            <a:ext cx="3032232" cy="60238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4B21B5-8533-59AE-07EF-FC02EB8BB66E}"/>
              </a:ext>
            </a:extLst>
          </p:cNvPr>
          <p:cNvSpPr/>
          <p:nvPr/>
        </p:nvSpPr>
        <p:spPr>
          <a:xfrm>
            <a:off x="527289" y="3312141"/>
            <a:ext cx="1933839" cy="602380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23925" y="5172075"/>
            <a:ext cx="2500746" cy="2604944"/>
          </a:xfrm>
          <a:custGeom>
            <a:avLst/>
            <a:gdLst/>
            <a:ahLst/>
            <a:cxnLst/>
            <a:rect l="l" t="t" r="r" b="b"/>
            <a:pathLst>
              <a:path w="2500746" h="2604944">
                <a:moveTo>
                  <a:pt x="0" y="0"/>
                </a:moveTo>
                <a:lnTo>
                  <a:pt x="2500746" y="0"/>
                </a:lnTo>
                <a:lnTo>
                  <a:pt x="2500746" y="2604944"/>
                </a:lnTo>
                <a:lnTo>
                  <a:pt x="0" y="2604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66208" y="5336183"/>
            <a:ext cx="2649539" cy="2358090"/>
          </a:xfrm>
          <a:custGeom>
            <a:avLst/>
            <a:gdLst/>
            <a:ahLst/>
            <a:cxnLst/>
            <a:rect l="l" t="t" r="r" b="b"/>
            <a:pathLst>
              <a:path w="2649539" h="2358090">
                <a:moveTo>
                  <a:pt x="0" y="0"/>
                </a:moveTo>
                <a:lnTo>
                  <a:pt x="2649539" y="0"/>
                </a:lnTo>
                <a:lnTo>
                  <a:pt x="2649539" y="2358090"/>
                </a:lnTo>
                <a:lnTo>
                  <a:pt x="0" y="2358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02843" y="5322593"/>
            <a:ext cx="2809643" cy="2303907"/>
          </a:xfrm>
          <a:custGeom>
            <a:avLst/>
            <a:gdLst/>
            <a:ahLst/>
            <a:cxnLst/>
            <a:rect l="l" t="t" r="r" b="b"/>
            <a:pathLst>
              <a:path w="2809643" h="2303907">
                <a:moveTo>
                  <a:pt x="0" y="0"/>
                </a:moveTo>
                <a:lnTo>
                  <a:pt x="2809642" y="0"/>
                </a:lnTo>
                <a:lnTo>
                  <a:pt x="2809642" y="2303907"/>
                </a:lnTo>
                <a:lnTo>
                  <a:pt x="0" y="2303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86810" y="5582744"/>
            <a:ext cx="3214012" cy="1590936"/>
          </a:xfrm>
          <a:custGeom>
            <a:avLst/>
            <a:gdLst/>
            <a:ahLst/>
            <a:cxnLst/>
            <a:rect l="l" t="t" r="r" b="b"/>
            <a:pathLst>
              <a:path w="3214012" h="1590936">
                <a:moveTo>
                  <a:pt x="0" y="0"/>
                </a:moveTo>
                <a:lnTo>
                  <a:pt x="3214012" y="0"/>
                </a:lnTo>
                <a:lnTo>
                  <a:pt x="3214012" y="1590935"/>
                </a:lnTo>
                <a:lnTo>
                  <a:pt x="0" y="1590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963438" y="6216387"/>
            <a:ext cx="964003" cy="597682"/>
          </a:xfrm>
          <a:custGeom>
            <a:avLst/>
            <a:gdLst/>
            <a:ahLst/>
            <a:cxnLst/>
            <a:rect l="l" t="t" r="r" b="b"/>
            <a:pathLst>
              <a:path w="964003" h="597682">
                <a:moveTo>
                  <a:pt x="0" y="0"/>
                </a:moveTo>
                <a:lnTo>
                  <a:pt x="964003" y="0"/>
                </a:lnTo>
                <a:lnTo>
                  <a:pt x="964003" y="597682"/>
                </a:lnTo>
                <a:lnTo>
                  <a:pt x="0" y="597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Huấn luyện mô hình RNN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76104" y="2975028"/>
            <a:ext cx="103010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CẦN HỌC MA TRẬN TRỌNG SỐ  </a:t>
            </a:r>
            <a:r>
              <a:rPr lang="en-US" sz="3200" b="1">
                <a:solidFill>
                  <a:srgbClr val="EC21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Wₕₓ - Wₕₕ - Wₕᵧ</a:t>
            </a:r>
          </a:p>
        </p:txBody>
      </p:sp>
      <p:sp>
        <p:nvSpPr>
          <p:cNvPr id="13" name="Freeform 13"/>
          <p:cNvSpPr/>
          <p:nvPr/>
        </p:nvSpPr>
        <p:spPr>
          <a:xfrm>
            <a:off x="8462615" y="6216387"/>
            <a:ext cx="964003" cy="597682"/>
          </a:xfrm>
          <a:custGeom>
            <a:avLst/>
            <a:gdLst/>
            <a:ahLst/>
            <a:cxnLst/>
            <a:rect l="l" t="t" r="r" b="b"/>
            <a:pathLst>
              <a:path w="964003" h="597682">
                <a:moveTo>
                  <a:pt x="0" y="0"/>
                </a:moveTo>
                <a:lnTo>
                  <a:pt x="964003" y="0"/>
                </a:lnTo>
                <a:lnTo>
                  <a:pt x="964003" y="597682"/>
                </a:lnTo>
                <a:lnTo>
                  <a:pt x="0" y="597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2867647" y="6216387"/>
            <a:ext cx="964003" cy="597682"/>
          </a:xfrm>
          <a:custGeom>
            <a:avLst/>
            <a:gdLst/>
            <a:ahLst/>
            <a:cxnLst/>
            <a:rect l="l" t="t" r="r" b="b"/>
            <a:pathLst>
              <a:path w="964003" h="597682">
                <a:moveTo>
                  <a:pt x="0" y="0"/>
                </a:moveTo>
                <a:lnTo>
                  <a:pt x="964002" y="0"/>
                </a:lnTo>
                <a:lnTo>
                  <a:pt x="964002" y="597682"/>
                </a:lnTo>
                <a:lnTo>
                  <a:pt x="0" y="597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009960" y="4122473"/>
            <a:ext cx="386931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FUNCTION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463" y="8098011"/>
            <a:ext cx="248025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44208" y="8084798"/>
            <a:ext cx="248025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DỰ ĐOÁN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83768" y="8098011"/>
            <a:ext cx="323752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HÀM MẤT MÁT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77875" y="8084798"/>
            <a:ext cx="248025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THỰC TẾ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7A85FC-4CD6-AF08-48D3-B3CDF714BF86}"/>
              </a:ext>
            </a:extLst>
          </p:cNvPr>
          <p:cNvSpPr/>
          <p:nvPr/>
        </p:nvSpPr>
        <p:spPr>
          <a:xfrm>
            <a:off x="1103770" y="2448122"/>
            <a:ext cx="5754230" cy="64375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37726" y="8469910"/>
            <a:ext cx="8821803" cy="1389187"/>
            <a:chOff x="0" y="0"/>
            <a:chExt cx="2323438" cy="3658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3438" cy="365876"/>
            </a:xfrm>
            <a:custGeom>
              <a:avLst/>
              <a:gdLst/>
              <a:ahLst/>
              <a:cxnLst/>
              <a:rect l="l" t="t" r="r" b="b"/>
              <a:pathLst>
                <a:path w="2323438" h="365876">
                  <a:moveTo>
                    <a:pt x="22817" y="0"/>
                  </a:moveTo>
                  <a:lnTo>
                    <a:pt x="2300620" y="0"/>
                  </a:lnTo>
                  <a:cubicBezTo>
                    <a:pt x="2313222" y="0"/>
                    <a:pt x="2323438" y="10216"/>
                    <a:pt x="2323438" y="22817"/>
                  </a:cubicBezTo>
                  <a:lnTo>
                    <a:pt x="2323438" y="343059"/>
                  </a:lnTo>
                  <a:cubicBezTo>
                    <a:pt x="2323438" y="355661"/>
                    <a:pt x="2313222" y="365876"/>
                    <a:pt x="2300620" y="365876"/>
                  </a:cubicBezTo>
                  <a:lnTo>
                    <a:pt x="22817" y="365876"/>
                  </a:lnTo>
                  <a:cubicBezTo>
                    <a:pt x="10216" y="365876"/>
                    <a:pt x="0" y="355661"/>
                    <a:pt x="0" y="343059"/>
                  </a:cubicBezTo>
                  <a:lnTo>
                    <a:pt x="0" y="22817"/>
                  </a:lnTo>
                  <a:cubicBezTo>
                    <a:pt x="0" y="10216"/>
                    <a:pt x="10216" y="0"/>
                    <a:pt x="22817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23438" cy="403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Huấn luyện mô hình RNN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0524" y="6500871"/>
            <a:ext cx="8849006" cy="1389187"/>
            <a:chOff x="0" y="0"/>
            <a:chExt cx="2358719" cy="3658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58719" cy="365876"/>
            </a:xfrm>
            <a:custGeom>
              <a:avLst/>
              <a:gdLst/>
              <a:ahLst/>
              <a:cxnLst/>
              <a:rect l="l" t="t" r="r" b="b"/>
              <a:pathLst>
                <a:path w="2358719" h="365876">
                  <a:moveTo>
                    <a:pt x="22476" y="0"/>
                  </a:moveTo>
                  <a:lnTo>
                    <a:pt x="2336243" y="0"/>
                  </a:lnTo>
                  <a:cubicBezTo>
                    <a:pt x="2348656" y="0"/>
                    <a:pt x="2358719" y="10063"/>
                    <a:pt x="2358719" y="22476"/>
                  </a:cubicBezTo>
                  <a:lnTo>
                    <a:pt x="2358719" y="343400"/>
                  </a:lnTo>
                  <a:cubicBezTo>
                    <a:pt x="2358719" y="355814"/>
                    <a:pt x="2348656" y="365876"/>
                    <a:pt x="2336243" y="365876"/>
                  </a:cubicBezTo>
                  <a:lnTo>
                    <a:pt x="22476" y="365876"/>
                  </a:lnTo>
                  <a:cubicBezTo>
                    <a:pt x="10063" y="365876"/>
                    <a:pt x="0" y="355814"/>
                    <a:pt x="0" y="343400"/>
                  </a:cubicBezTo>
                  <a:lnTo>
                    <a:pt x="0" y="22476"/>
                  </a:lnTo>
                  <a:cubicBezTo>
                    <a:pt x="0" y="10063"/>
                    <a:pt x="10063" y="0"/>
                    <a:pt x="22476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58719" cy="403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10525" y="4521134"/>
            <a:ext cx="8849005" cy="1389187"/>
            <a:chOff x="0" y="0"/>
            <a:chExt cx="2330602" cy="3658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30602" cy="365876"/>
            </a:xfrm>
            <a:custGeom>
              <a:avLst/>
              <a:gdLst/>
              <a:ahLst/>
              <a:cxnLst/>
              <a:rect l="l" t="t" r="r" b="b"/>
              <a:pathLst>
                <a:path w="2330602" h="365876">
                  <a:moveTo>
                    <a:pt x="22747" y="0"/>
                  </a:moveTo>
                  <a:lnTo>
                    <a:pt x="2307855" y="0"/>
                  </a:lnTo>
                  <a:cubicBezTo>
                    <a:pt x="2320418" y="0"/>
                    <a:pt x="2330602" y="10184"/>
                    <a:pt x="2330602" y="22747"/>
                  </a:cubicBezTo>
                  <a:lnTo>
                    <a:pt x="2330602" y="343129"/>
                  </a:lnTo>
                  <a:cubicBezTo>
                    <a:pt x="2330602" y="355692"/>
                    <a:pt x="2320418" y="365876"/>
                    <a:pt x="2307855" y="365876"/>
                  </a:cubicBezTo>
                  <a:lnTo>
                    <a:pt x="22747" y="365876"/>
                  </a:lnTo>
                  <a:cubicBezTo>
                    <a:pt x="10184" y="365876"/>
                    <a:pt x="0" y="355692"/>
                    <a:pt x="0" y="343129"/>
                  </a:cubicBezTo>
                  <a:lnTo>
                    <a:pt x="0" y="22747"/>
                  </a:lnTo>
                  <a:cubicBezTo>
                    <a:pt x="0" y="10184"/>
                    <a:pt x="10184" y="0"/>
                    <a:pt x="22747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330602" cy="403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392905" y="4323055"/>
            <a:ext cx="7480306" cy="4812833"/>
          </a:xfrm>
          <a:custGeom>
            <a:avLst/>
            <a:gdLst/>
            <a:ahLst/>
            <a:cxnLst/>
            <a:rect l="l" t="t" r="r" b="b"/>
            <a:pathLst>
              <a:path w="7480306" h="4812833">
                <a:moveTo>
                  <a:pt x="0" y="0"/>
                </a:moveTo>
                <a:lnTo>
                  <a:pt x="7480306" y="0"/>
                </a:lnTo>
                <a:lnTo>
                  <a:pt x="7480306" y="4812833"/>
                </a:lnTo>
                <a:lnTo>
                  <a:pt x="0" y="4812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41" r="-574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47750" y="2506419"/>
            <a:ext cx="581025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 TRUYỀN NGƯỢC (BPTT)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9306" y="3177614"/>
            <a:ext cx="9113913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Thuật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toán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Lan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truyền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ngược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qua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thời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gian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(BPTT)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để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cập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nhật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trọng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số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dữ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liệu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chuỗi</a:t>
            </a:r>
            <a:r>
              <a:rPr lang="en-US" sz="24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0187" y="6215121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0187" y="4235384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8047" y="4870191"/>
            <a:ext cx="8124928" cy="82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4"/>
              </a:lnSpc>
              <a:spcBef>
                <a:spcPct val="0"/>
              </a:spcBef>
            </a:pP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Tìm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hướng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mức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cần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thay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đổi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của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từng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trọng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số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để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17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giảm</a:t>
            </a:r>
            <a:r>
              <a:rPr lang="en-US" sz="2417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Loss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38047" y="6900921"/>
            <a:ext cx="806561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Truyền gradient từ bước cuối ngược về các bước trước để tính đạo hàm của hàm Loss theo 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0187" y="8194858"/>
            <a:ext cx="8806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38047" y="8842558"/>
            <a:ext cx="806561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Tổng hợp gradient tại mọi bước thời gian để tính ra đạo hàm tổng hợp của hàm Loss theo các trọng số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29583CB-738C-170D-8EC9-382EC4DB3FB9}"/>
              </a:ext>
            </a:extLst>
          </p:cNvPr>
          <p:cNvSpPr/>
          <p:nvPr/>
        </p:nvSpPr>
        <p:spPr>
          <a:xfrm>
            <a:off x="1819306" y="4154111"/>
            <a:ext cx="3057494" cy="643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973228" y="4203319"/>
            <a:ext cx="463430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Tính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Gradient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F61D769-5223-4977-E069-EF2934331849}"/>
              </a:ext>
            </a:extLst>
          </p:cNvPr>
          <p:cNvSpPr/>
          <p:nvPr/>
        </p:nvSpPr>
        <p:spPr>
          <a:xfrm>
            <a:off x="1819306" y="6150421"/>
            <a:ext cx="5189572" cy="643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973228" y="6202893"/>
            <a:ext cx="518957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truyền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ngược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(BPTT)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073F558-6E57-16BE-E88D-1F5BA2647B4B}"/>
              </a:ext>
            </a:extLst>
          </p:cNvPr>
          <p:cNvSpPr/>
          <p:nvPr/>
        </p:nvSpPr>
        <p:spPr>
          <a:xfrm>
            <a:off x="1819306" y="8161949"/>
            <a:ext cx="2362478" cy="643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984237" y="8194858"/>
            <a:ext cx="2362478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hợp</a:t>
            </a:r>
            <a:endParaRPr lang="en-US" sz="30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9B4C8B9-118F-D8EC-9E8A-8E26B65B4866}"/>
              </a:ext>
            </a:extLst>
          </p:cNvPr>
          <p:cNvSpPr/>
          <p:nvPr/>
        </p:nvSpPr>
        <p:spPr>
          <a:xfrm>
            <a:off x="941393" y="4279041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ADF47F5-2576-5742-341C-AB95526EFD0E}"/>
              </a:ext>
            </a:extLst>
          </p:cNvPr>
          <p:cNvSpPr/>
          <p:nvPr/>
        </p:nvSpPr>
        <p:spPr>
          <a:xfrm>
            <a:off x="885897" y="6215121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C16A768-9537-18D5-CED6-FC4D05920BF8}"/>
              </a:ext>
            </a:extLst>
          </p:cNvPr>
          <p:cNvSpPr/>
          <p:nvPr/>
        </p:nvSpPr>
        <p:spPr>
          <a:xfrm>
            <a:off x="885897" y="8150882"/>
            <a:ext cx="649253" cy="638056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FEC90F74-B24A-591B-F30C-35C49FB8716A}"/>
              </a:ext>
            </a:extLst>
          </p:cNvPr>
          <p:cNvSpPr txBox="1"/>
          <p:nvPr/>
        </p:nvSpPr>
        <p:spPr>
          <a:xfrm>
            <a:off x="1166178" y="4319676"/>
            <a:ext cx="463430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2747BC1B-7C1C-B73D-8FFA-EB39A1323D75}"/>
              </a:ext>
            </a:extLst>
          </p:cNvPr>
          <p:cNvSpPr txBox="1"/>
          <p:nvPr/>
        </p:nvSpPr>
        <p:spPr>
          <a:xfrm>
            <a:off x="1070189" y="6278009"/>
            <a:ext cx="4634307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348298-8E03-0BD1-91E2-46E873183548}"/>
              </a:ext>
            </a:extLst>
          </p:cNvPr>
          <p:cNvSpPr txBox="1"/>
          <p:nvPr/>
        </p:nvSpPr>
        <p:spPr>
          <a:xfrm>
            <a:off x="1019742" y="8200333"/>
            <a:ext cx="9144000" cy="59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4294" y="2449737"/>
            <a:ext cx="17763405" cy="6650175"/>
          </a:xfrm>
          <a:custGeom>
            <a:avLst/>
            <a:gdLst/>
            <a:ahLst/>
            <a:cxnLst/>
            <a:rect l="l" t="t" r="r" b="b"/>
            <a:pathLst>
              <a:path w="17763405" h="6650175">
                <a:moveTo>
                  <a:pt x="0" y="0"/>
                </a:moveTo>
                <a:lnTo>
                  <a:pt x="17763404" y="0"/>
                </a:lnTo>
                <a:lnTo>
                  <a:pt x="17763404" y="6650175"/>
                </a:lnTo>
                <a:lnTo>
                  <a:pt x="0" y="6650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14294" y="2217065"/>
            <a:ext cx="17662134" cy="7281659"/>
            <a:chOff x="0" y="0"/>
            <a:chExt cx="4651755" cy="19178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51755" cy="1917803"/>
            </a:xfrm>
            <a:custGeom>
              <a:avLst/>
              <a:gdLst/>
              <a:ahLst/>
              <a:cxnLst/>
              <a:rect l="l" t="t" r="r" b="b"/>
              <a:pathLst>
                <a:path w="4651755" h="1917803">
                  <a:moveTo>
                    <a:pt x="0" y="0"/>
                  </a:moveTo>
                  <a:lnTo>
                    <a:pt x="4651755" y="0"/>
                  </a:lnTo>
                  <a:lnTo>
                    <a:pt x="4651755" y="1917803"/>
                  </a:lnTo>
                  <a:lnTo>
                    <a:pt x="0" y="191780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51755" cy="195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Huấn luyện mô hình RNN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1997289"/>
            <a:ext cx="17462077" cy="7991818"/>
            <a:chOff x="0" y="0"/>
            <a:chExt cx="4599066" cy="21048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9066" cy="2104841"/>
            </a:xfrm>
            <a:custGeom>
              <a:avLst/>
              <a:gdLst/>
              <a:ahLst/>
              <a:cxnLst/>
              <a:rect l="l" t="t" r="r" b="b"/>
              <a:pathLst>
                <a:path w="4599066" h="2104841">
                  <a:moveTo>
                    <a:pt x="0" y="0"/>
                  </a:moveTo>
                  <a:lnTo>
                    <a:pt x="4599066" y="0"/>
                  </a:lnTo>
                  <a:lnTo>
                    <a:pt x="4599066" y="2104841"/>
                  </a:lnTo>
                  <a:lnTo>
                    <a:pt x="0" y="2104841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99066" cy="214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535536" y="2128639"/>
            <a:ext cx="13852329" cy="7791935"/>
          </a:xfrm>
          <a:custGeom>
            <a:avLst/>
            <a:gdLst/>
            <a:ahLst/>
            <a:cxnLst/>
            <a:rect l="l" t="t" r="r" b="b"/>
            <a:pathLst>
              <a:path w="13852329" h="7791935">
                <a:moveTo>
                  <a:pt x="0" y="0"/>
                </a:moveTo>
                <a:lnTo>
                  <a:pt x="13852330" y="0"/>
                </a:lnTo>
                <a:lnTo>
                  <a:pt x="13852330" y="7791936"/>
                </a:lnTo>
                <a:lnTo>
                  <a:pt x="0" y="7791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Huấn luyện mô hình RNN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09587" y="2800158"/>
            <a:ext cx="7910623" cy="6933297"/>
            <a:chOff x="0" y="0"/>
            <a:chExt cx="2083456" cy="18260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3456" cy="1826053"/>
            </a:xfrm>
            <a:custGeom>
              <a:avLst/>
              <a:gdLst/>
              <a:ahLst/>
              <a:cxnLst/>
              <a:rect l="l" t="t" r="r" b="b"/>
              <a:pathLst>
                <a:path w="2083456" h="1826053">
                  <a:moveTo>
                    <a:pt x="25446" y="0"/>
                  </a:moveTo>
                  <a:lnTo>
                    <a:pt x="2058011" y="0"/>
                  </a:lnTo>
                  <a:cubicBezTo>
                    <a:pt x="2064759" y="0"/>
                    <a:pt x="2071232" y="2681"/>
                    <a:pt x="2076004" y="7453"/>
                  </a:cubicBezTo>
                  <a:cubicBezTo>
                    <a:pt x="2080776" y="12225"/>
                    <a:pt x="2083456" y="18697"/>
                    <a:pt x="2083456" y="25446"/>
                  </a:cubicBezTo>
                  <a:lnTo>
                    <a:pt x="2083456" y="1800608"/>
                  </a:lnTo>
                  <a:cubicBezTo>
                    <a:pt x="2083456" y="1807357"/>
                    <a:pt x="2080776" y="1813829"/>
                    <a:pt x="2076004" y="1818601"/>
                  </a:cubicBezTo>
                  <a:cubicBezTo>
                    <a:pt x="2071232" y="1823373"/>
                    <a:pt x="2064759" y="1826053"/>
                    <a:pt x="2058011" y="1826053"/>
                  </a:cubicBezTo>
                  <a:lnTo>
                    <a:pt x="25446" y="1826053"/>
                  </a:lnTo>
                  <a:cubicBezTo>
                    <a:pt x="18697" y="1826053"/>
                    <a:pt x="12225" y="1823373"/>
                    <a:pt x="7453" y="1818601"/>
                  </a:cubicBezTo>
                  <a:cubicBezTo>
                    <a:pt x="2681" y="1813829"/>
                    <a:pt x="0" y="1807357"/>
                    <a:pt x="0" y="1800608"/>
                  </a:cubicBezTo>
                  <a:lnTo>
                    <a:pt x="0" y="25446"/>
                  </a:lnTo>
                  <a:cubicBezTo>
                    <a:pt x="0" y="18697"/>
                    <a:pt x="2681" y="12225"/>
                    <a:pt x="7453" y="7453"/>
                  </a:cubicBezTo>
                  <a:cubicBezTo>
                    <a:pt x="12225" y="2681"/>
                    <a:pt x="18697" y="0"/>
                    <a:pt x="25446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83456" cy="186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67789" y="2787703"/>
            <a:ext cx="7910623" cy="6945753"/>
            <a:chOff x="0" y="0"/>
            <a:chExt cx="2083456" cy="18293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83456" cy="1829334"/>
            </a:xfrm>
            <a:custGeom>
              <a:avLst/>
              <a:gdLst/>
              <a:ahLst/>
              <a:cxnLst/>
              <a:rect l="l" t="t" r="r" b="b"/>
              <a:pathLst>
                <a:path w="2083456" h="1829334">
                  <a:moveTo>
                    <a:pt x="25446" y="0"/>
                  </a:moveTo>
                  <a:lnTo>
                    <a:pt x="2058011" y="0"/>
                  </a:lnTo>
                  <a:cubicBezTo>
                    <a:pt x="2064759" y="0"/>
                    <a:pt x="2071232" y="2681"/>
                    <a:pt x="2076004" y="7453"/>
                  </a:cubicBezTo>
                  <a:cubicBezTo>
                    <a:pt x="2080776" y="12225"/>
                    <a:pt x="2083456" y="18697"/>
                    <a:pt x="2083456" y="25446"/>
                  </a:cubicBezTo>
                  <a:lnTo>
                    <a:pt x="2083456" y="1803889"/>
                  </a:lnTo>
                  <a:cubicBezTo>
                    <a:pt x="2083456" y="1810637"/>
                    <a:pt x="2080776" y="1817109"/>
                    <a:pt x="2076004" y="1821881"/>
                  </a:cubicBezTo>
                  <a:cubicBezTo>
                    <a:pt x="2071232" y="1826653"/>
                    <a:pt x="2064759" y="1829334"/>
                    <a:pt x="2058011" y="1829334"/>
                  </a:cubicBezTo>
                  <a:lnTo>
                    <a:pt x="25446" y="1829334"/>
                  </a:lnTo>
                  <a:cubicBezTo>
                    <a:pt x="18697" y="1829334"/>
                    <a:pt x="12225" y="1826653"/>
                    <a:pt x="7453" y="1821881"/>
                  </a:cubicBezTo>
                  <a:cubicBezTo>
                    <a:pt x="2681" y="1817109"/>
                    <a:pt x="0" y="1810637"/>
                    <a:pt x="0" y="1803889"/>
                  </a:cubicBezTo>
                  <a:lnTo>
                    <a:pt x="0" y="25446"/>
                  </a:lnTo>
                  <a:cubicBezTo>
                    <a:pt x="0" y="18697"/>
                    <a:pt x="2681" y="12225"/>
                    <a:pt x="7453" y="7453"/>
                  </a:cubicBezTo>
                  <a:cubicBezTo>
                    <a:pt x="12225" y="2681"/>
                    <a:pt x="18697" y="0"/>
                    <a:pt x="25446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83456" cy="1867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634336">
            <a:off x="5155282" y="3309172"/>
            <a:ext cx="695230" cy="832611"/>
          </a:xfrm>
          <a:custGeom>
            <a:avLst/>
            <a:gdLst/>
            <a:ahLst/>
            <a:cxnLst/>
            <a:rect l="l" t="t" r="r" b="b"/>
            <a:pathLst>
              <a:path w="695230" h="832611">
                <a:moveTo>
                  <a:pt x="0" y="0"/>
                </a:moveTo>
                <a:lnTo>
                  <a:pt x="695230" y="0"/>
                </a:lnTo>
                <a:lnTo>
                  <a:pt x="695230" y="832611"/>
                </a:lnTo>
                <a:lnTo>
                  <a:pt x="0" y="83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108315" y="3444396"/>
            <a:ext cx="1235702" cy="531352"/>
          </a:xfrm>
          <a:custGeom>
            <a:avLst/>
            <a:gdLst/>
            <a:ahLst/>
            <a:cxnLst/>
            <a:rect l="l" t="t" r="r" b="b"/>
            <a:pathLst>
              <a:path w="1235702" h="531352">
                <a:moveTo>
                  <a:pt x="0" y="0"/>
                </a:moveTo>
                <a:lnTo>
                  <a:pt x="1235702" y="0"/>
                </a:lnTo>
                <a:lnTo>
                  <a:pt x="1235702" y="531352"/>
                </a:lnTo>
                <a:lnTo>
                  <a:pt x="0" y="5313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534517" y="3396771"/>
            <a:ext cx="1223695" cy="758548"/>
          </a:xfrm>
          <a:custGeom>
            <a:avLst/>
            <a:gdLst/>
            <a:ahLst/>
            <a:cxnLst/>
            <a:rect l="l" t="t" r="r" b="b"/>
            <a:pathLst>
              <a:path w="1223695" h="758548">
                <a:moveTo>
                  <a:pt x="0" y="0"/>
                </a:moveTo>
                <a:lnTo>
                  <a:pt x="1223695" y="0"/>
                </a:lnTo>
                <a:lnTo>
                  <a:pt x="1223695" y="758548"/>
                </a:lnTo>
                <a:lnTo>
                  <a:pt x="0" y="758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481494" y="7454813"/>
            <a:ext cx="2489345" cy="802687"/>
          </a:xfrm>
          <a:custGeom>
            <a:avLst/>
            <a:gdLst/>
            <a:ahLst/>
            <a:cxnLst/>
            <a:rect l="l" t="t" r="r" b="b"/>
            <a:pathLst>
              <a:path w="2489345" h="802687">
                <a:moveTo>
                  <a:pt x="0" y="0"/>
                </a:moveTo>
                <a:lnTo>
                  <a:pt x="2489344" y="0"/>
                </a:lnTo>
                <a:lnTo>
                  <a:pt x="2489344" y="802687"/>
                </a:lnTo>
                <a:lnTo>
                  <a:pt x="0" y="80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336050" y="6328070"/>
            <a:ext cx="1570329" cy="1096183"/>
          </a:xfrm>
          <a:custGeom>
            <a:avLst/>
            <a:gdLst/>
            <a:ahLst/>
            <a:cxnLst/>
            <a:rect l="l" t="t" r="r" b="b"/>
            <a:pathLst>
              <a:path w="1570329" h="1096183">
                <a:moveTo>
                  <a:pt x="0" y="0"/>
                </a:moveTo>
                <a:lnTo>
                  <a:pt x="1570328" y="0"/>
                </a:lnTo>
                <a:lnTo>
                  <a:pt x="1570328" y="1096183"/>
                </a:lnTo>
                <a:lnTo>
                  <a:pt x="0" y="10961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67" r="-767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325774" y="3683994"/>
            <a:ext cx="1749128" cy="874564"/>
          </a:xfrm>
          <a:custGeom>
            <a:avLst/>
            <a:gdLst/>
            <a:ahLst/>
            <a:cxnLst/>
            <a:rect l="l" t="t" r="r" b="b"/>
            <a:pathLst>
              <a:path w="1749128" h="874564">
                <a:moveTo>
                  <a:pt x="0" y="0"/>
                </a:moveTo>
                <a:lnTo>
                  <a:pt x="1749129" y="0"/>
                </a:lnTo>
                <a:lnTo>
                  <a:pt x="1749129" y="874564"/>
                </a:lnTo>
                <a:lnTo>
                  <a:pt x="0" y="874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108315" y="5048805"/>
            <a:ext cx="2537650" cy="763541"/>
          </a:xfrm>
          <a:custGeom>
            <a:avLst/>
            <a:gdLst/>
            <a:ahLst/>
            <a:cxnLst/>
            <a:rect l="l" t="t" r="r" b="b"/>
            <a:pathLst>
              <a:path w="2537650" h="763541">
                <a:moveTo>
                  <a:pt x="0" y="0"/>
                </a:moveTo>
                <a:lnTo>
                  <a:pt x="2537650" y="0"/>
                </a:lnTo>
                <a:lnTo>
                  <a:pt x="2537650" y="763541"/>
                </a:lnTo>
                <a:lnTo>
                  <a:pt x="0" y="7635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949" r="-10404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Ưu nhược điểm của RNN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42632" y="2493136"/>
            <a:ext cx="563701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ƯU ĐIỂM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13224" y="2493136"/>
            <a:ext cx="563701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NHƯỢC ĐIỂM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9306" y="3658996"/>
            <a:ext cx="291584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Tính linh hoạt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19306" y="5449626"/>
            <a:ext cx="4641455" cy="81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Khả năng nắm bắt </a:t>
            </a:r>
          </a:p>
          <a:p>
            <a:pPr algn="l">
              <a:lnSpc>
                <a:spcPts val="3275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thông tin theo thời gian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19306" y="7856307"/>
            <a:ext cx="3265495" cy="4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Độ chính xác cao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59530" y="3861561"/>
            <a:ext cx="514483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Quá trình đào tạo phức tạp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59530" y="6529113"/>
            <a:ext cx="5144839" cy="81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Vanishing gradient </a:t>
            </a:r>
          </a:p>
          <a:p>
            <a:pPr algn="l">
              <a:lnSpc>
                <a:spcPts val="3275"/>
              </a:lnSpc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(giảm độ lớn của gradient)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19306" y="4275499"/>
            <a:ext cx="6530990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i="1" spc="-86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RNN có thể xử lý nhiều dạng dữ liệu tuần tự như văn bản, giọng nói hoặc chuỗi thời gian.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19306" y="6403269"/>
            <a:ext cx="653099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i="1" spc="-86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RNN có thể ghi nhớ mối quan hệ giữa các phần tử trong chuỗi dữ liệu, giúp mô hình hiểu ngữ cảnh tốt hơn.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19306" y="8390850"/>
            <a:ext cx="653099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i="1" spc="-86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Nhờ khả năng học từ dữ liệu trước đó, RNN có thể đưa ra dự đoán chính xác hơn trong nhiều tác vụ xử lý dữ liệu tuần tự.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81504" y="4543085"/>
            <a:ext cx="6530990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i="1" spc="-86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Tính chất hồi quy đòi hỏi tài nguyên tính toán lớn và gây khó khăn trong việc điều chỉnh tham số hơn so với mạng nơ-ron truyền thống.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81504" y="7560798"/>
            <a:ext cx="7093398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i="1" spc="-86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Khi xử lý chuỗi dữ liệu dài, gradient nhỏ dần về 0 trong quá trình BPTT. Các trọng số ở những bước đầu quá xa trong chuỗi gần như không được cập nhật, gây khó khăn khi học thông tin dài hạn.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688E4D9-E735-264F-C463-EC70E0E28D60}"/>
              </a:ext>
            </a:extLst>
          </p:cNvPr>
          <p:cNvSpPr/>
          <p:nvPr/>
        </p:nvSpPr>
        <p:spPr>
          <a:xfrm>
            <a:off x="3887447" y="2461852"/>
            <a:ext cx="2263556" cy="644694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B8AA29-1A99-5A7D-8BDF-429B4CBDD6EE}"/>
              </a:ext>
            </a:extLst>
          </p:cNvPr>
          <p:cNvSpPr txBox="1"/>
          <p:nvPr/>
        </p:nvSpPr>
        <p:spPr>
          <a:xfrm>
            <a:off x="4117456" y="2484228"/>
            <a:ext cx="1803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ƯU ĐIỂM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3A494F3-AF0E-1618-A243-8618A8574A7D}"/>
              </a:ext>
            </a:extLst>
          </p:cNvPr>
          <p:cNvSpPr/>
          <p:nvPr/>
        </p:nvSpPr>
        <p:spPr>
          <a:xfrm>
            <a:off x="12008841" y="2424309"/>
            <a:ext cx="2571631" cy="644694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23C638-0B6C-E90A-A5B2-302418F51D0C}"/>
              </a:ext>
            </a:extLst>
          </p:cNvPr>
          <p:cNvSpPr txBox="1"/>
          <p:nvPr/>
        </p:nvSpPr>
        <p:spPr>
          <a:xfrm>
            <a:off x="12037284" y="2455833"/>
            <a:ext cx="2571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NHƯỢC ĐIỂM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68F27E-A9EB-F03E-0C36-498C331E507E}"/>
              </a:ext>
            </a:extLst>
          </p:cNvPr>
          <p:cNvSpPr/>
          <p:nvPr/>
        </p:nvSpPr>
        <p:spPr>
          <a:xfrm>
            <a:off x="12102728" y="2912069"/>
            <a:ext cx="5370424" cy="11675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2A68A3-8785-B211-2EDB-529C66966E2D}"/>
              </a:ext>
            </a:extLst>
          </p:cNvPr>
          <p:cNvSpPr/>
          <p:nvPr/>
        </p:nvSpPr>
        <p:spPr>
          <a:xfrm>
            <a:off x="6743593" y="2913576"/>
            <a:ext cx="5067407" cy="11675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7599D7-C1D9-7CBD-F510-BD3AB196F8AF}"/>
              </a:ext>
            </a:extLst>
          </p:cNvPr>
          <p:cNvSpPr/>
          <p:nvPr/>
        </p:nvSpPr>
        <p:spPr>
          <a:xfrm>
            <a:off x="677873" y="2970714"/>
            <a:ext cx="5370424" cy="11675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Các biến thể của RNN</a:t>
            </a:r>
          </a:p>
        </p:txBody>
      </p:sp>
      <p:sp>
        <p:nvSpPr>
          <p:cNvPr id="10" name="Freeform 10"/>
          <p:cNvSpPr/>
          <p:nvPr/>
        </p:nvSpPr>
        <p:spPr>
          <a:xfrm>
            <a:off x="752061" y="4358048"/>
            <a:ext cx="5486557" cy="3086188"/>
          </a:xfrm>
          <a:custGeom>
            <a:avLst/>
            <a:gdLst/>
            <a:ahLst/>
            <a:cxnLst/>
            <a:rect l="l" t="t" r="r" b="b"/>
            <a:pathLst>
              <a:path w="5486557" h="3086188">
                <a:moveTo>
                  <a:pt x="0" y="0"/>
                </a:moveTo>
                <a:lnTo>
                  <a:pt x="5486557" y="0"/>
                </a:lnTo>
                <a:lnTo>
                  <a:pt x="5486557" y="3086188"/>
                </a:lnTo>
                <a:lnTo>
                  <a:pt x="0" y="3086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13021" y="4204372"/>
            <a:ext cx="4524721" cy="3393540"/>
          </a:xfrm>
          <a:custGeom>
            <a:avLst/>
            <a:gdLst/>
            <a:ahLst/>
            <a:cxnLst/>
            <a:rect l="l" t="t" r="r" b="b"/>
            <a:pathLst>
              <a:path w="4524721" h="3393540">
                <a:moveTo>
                  <a:pt x="0" y="0"/>
                </a:moveTo>
                <a:lnTo>
                  <a:pt x="4524721" y="0"/>
                </a:lnTo>
                <a:lnTo>
                  <a:pt x="4524721" y="3393540"/>
                </a:lnTo>
                <a:lnTo>
                  <a:pt x="0" y="3393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14017" y="4192030"/>
            <a:ext cx="5767714" cy="3078517"/>
          </a:xfrm>
          <a:custGeom>
            <a:avLst/>
            <a:gdLst/>
            <a:ahLst/>
            <a:cxnLst/>
            <a:rect l="l" t="t" r="r" b="b"/>
            <a:pathLst>
              <a:path w="5767714" h="3078517">
                <a:moveTo>
                  <a:pt x="0" y="0"/>
                </a:moveTo>
                <a:lnTo>
                  <a:pt x="5767714" y="0"/>
                </a:lnTo>
                <a:lnTo>
                  <a:pt x="5767714" y="3078518"/>
                </a:lnTo>
                <a:lnTo>
                  <a:pt x="0" y="3078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52061" y="2986284"/>
            <a:ext cx="517369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Long Short-Term Memory 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(LSTM)               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32103" y="2986284"/>
            <a:ext cx="548655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Gated Recurrent Unit    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(GRU)                 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558" y="7712212"/>
            <a:ext cx="491261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Cải thiện khả năng giữ thông tin dài hạn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21296" y="7712212"/>
            <a:ext cx="484540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Dùng cơ chế cổng với cấu trúc gọn hơn LSTM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9704" y="2986284"/>
            <a:ext cx="5446093" cy="103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Bidirectional 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RNN-RNN             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20236" y="7677150"/>
            <a:ext cx="546556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Sử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dụng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ngữ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cảnh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từ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cả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hai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phía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.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Cải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thiện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độ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chính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xác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khi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dự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3000" b="1" i="1" dirty="0" err="1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đoán</a:t>
            </a:r>
            <a:r>
              <a:rPr lang="en-US" sz="3000" b="1" i="1" dirty="0">
                <a:solidFill>
                  <a:srgbClr val="0000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294" y="174411"/>
            <a:ext cx="1505013" cy="1822877"/>
          </a:xfrm>
          <a:custGeom>
            <a:avLst/>
            <a:gdLst/>
            <a:ahLst/>
            <a:cxnLst/>
            <a:rect l="l" t="t" r="r" b="b"/>
            <a:pathLst>
              <a:path w="1505013" h="1822877">
                <a:moveTo>
                  <a:pt x="0" y="0"/>
                </a:moveTo>
                <a:lnTo>
                  <a:pt x="1505012" y="0"/>
                </a:lnTo>
                <a:lnTo>
                  <a:pt x="1505012" y="1822878"/>
                </a:lnTo>
                <a:lnTo>
                  <a:pt x="0" y="182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4294" y="2217065"/>
            <a:ext cx="17662134" cy="7832320"/>
            <a:chOff x="0" y="0"/>
            <a:chExt cx="4651755" cy="20628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51755" cy="2062833"/>
            </a:xfrm>
            <a:custGeom>
              <a:avLst/>
              <a:gdLst/>
              <a:ahLst/>
              <a:cxnLst/>
              <a:rect l="l" t="t" r="r" b="b"/>
              <a:pathLst>
                <a:path w="4651755" h="2062833">
                  <a:moveTo>
                    <a:pt x="0" y="0"/>
                  </a:moveTo>
                  <a:lnTo>
                    <a:pt x="4651755" y="0"/>
                  </a:lnTo>
                  <a:lnTo>
                    <a:pt x="4651755" y="2062833"/>
                  </a:lnTo>
                  <a:lnTo>
                    <a:pt x="0" y="2062833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51755" cy="210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99967" y="348228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8410" y="3482280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0" y="0"/>
                </a:moveTo>
                <a:lnTo>
                  <a:pt x="4546741" y="0"/>
                </a:lnTo>
                <a:lnTo>
                  <a:pt x="4546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44500" y="348228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35536" y="720979"/>
            <a:ext cx="15752464" cy="72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800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Ứng dụng của RNN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2632" y="327452"/>
            <a:ext cx="15833795" cy="1543050"/>
            <a:chOff x="0" y="0"/>
            <a:chExt cx="4170218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70218" cy="406400"/>
            </a:xfrm>
            <a:custGeom>
              <a:avLst/>
              <a:gdLst/>
              <a:ahLst/>
              <a:cxnLst/>
              <a:rect l="l" t="t" r="r" b="b"/>
              <a:pathLst>
                <a:path w="4170218" h="406400">
                  <a:moveTo>
                    <a:pt x="0" y="0"/>
                  </a:moveTo>
                  <a:lnTo>
                    <a:pt x="4170218" y="0"/>
                  </a:lnTo>
                  <a:lnTo>
                    <a:pt x="4170218" y="406400"/>
                  </a:lnTo>
                  <a:lnTo>
                    <a:pt x="0" y="40640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17021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33101" y="4826163"/>
            <a:ext cx="12221798" cy="212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3"/>
              </a:lnSpc>
            </a:pPr>
            <a:r>
              <a:rPr lang="en-US" sz="7036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 ơn Thầy, </a:t>
            </a:r>
          </a:p>
          <a:p>
            <a:pPr algn="l">
              <a:lnSpc>
                <a:spcPts val="8373"/>
              </a:lnSpc>
            </a:pPr>
            <a:r>
              <a:rPr lang="en-US" sz="7036" b="1">
                <a:solidFill>
                  <a:srgbClr val="0471B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 anh/chị đã lắng nghe!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2286000"/>
            <a:chOff x="0" y="0"/>
            <a:chExt cx="24384000" cy="3048000"/>
          </a:xfrm>
        </p:grpSpPr>
        <p:sp>
          <p:nvSpPr>
            <p:cNvPr id="4" name="Freeform 4" descr="A blue sign with white text  AI-generated content may be incorrect."/>
            <p:cNvSpPr/>
            <p:nvPr/>
          </p:nvSpPr>
          <p:spPr>
            <a:xfrm>
              <a:off x="0" y="0"/>
              <a:ext cx="24384000" cy="3048000"/>
            </a:xfrm>
            <a:custGeom>
              <a:avLst/>
              <a:gdLst/>
              <a:ahLst/>
              <a:cxnLst/>
              <a:rect l="l" t="t" r="r" b="b"/>
              <a:pathLst>
                <a:path w="24384000" h="3048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1631</Words>
  <Application>Microsoft Office PowerPoint</Application>
  <PresentationFormat>Custom</PresentationFormat>
  <Paragraphs>339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Montserrat Ultra-Bold</vt:lpstr>
      <vt:lpstr>Montserrat Bold</vt:lpstr>
      <vt:lpstr>Montserrat Semi-Bold</vt:lpstr>
      <vt:lpstr>Montserrat Semi-Bold Italics</vt:lpstr>
      <vt:lpstr>Arial</vt:lpstr>
      <vt:lpstr>Montserrat</vt:lpstr>
      <vt:lpstr>Montserrat Medium</vt:lpstr>
      <vt:lpstr>Montserrat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| Tìm hiểu về Nơ-ron Hồi Quy | Deep Learning</dc:title>
  <cp:lastModifiedBy>Hào Trịnh Nguyễn Anh</cp:lastModifiedBy>
  <cp:revision>15</cp:revision>
  <dcterms:created xsi:type="dcterms:W3CDTF">2006-08-16T00:00:00Z</dcterms:created>
  <dcterms:modified xsi:type="dcterms:W3CDTF">2026-10-08T13:03:20Z</dcterms:modified>
  <dc:identifier>DAHWBCTL3pU</dc:identifier>
</cp:coreProperties>
</file>